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i="1">
                <a:solidFill>
                  <a:srgbClr val="2D2D2D"/>
                </a:solidFill>
              </a:rPr>
              <a:t>Agentic AI </a:t>
            </a:r>
            <a:r>
              <a:rPr sz="4400" i="1" b="1">
                <a:solidFill>
                  <a:srgbClr val="830051"/>
                </a:solidFill>
              </a:rPr>
              <a:t>MVP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A 9-month plan to build 4 AI agents for R&amp;D IT platforms, starting with 3DP and BIKG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2011680" cy="109728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AI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194560"/>
            <a:ext cx="2011680" cy="109728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3317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880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Primary 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94560"/>
            <a:ext cx="2011680" cy="109728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3317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FTEs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194560"/>
            <a:ext cx="2011680" cy="109728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3317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880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45720" cy="54864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March – November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840480"/>
            <a:ext cx="45720" cy="54864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8404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PRIMARY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0690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3DP, BIKG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45720" cy="54864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Test Intelligence, Knowledge Library, Ingestion, Auto-Lineage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663440"/>
            <a:ext cx="45720" cy="54864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4663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EXTENSIBILITY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892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Additional platforms tailored during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1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>
                <a:solidFill>
                  <a:srgbClr val="2D2D2D"/>
                </a:solidFill>
              </a:rPr>
              <a:t>Team </a:t>
            </a:r>
            <a:r>
              <a:rPr sz="3200" i="1" b="1">
                <a:solidFill>
                  <a:srgbClr val="830051"/>
                </a:solidFill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Core team of 6 FTEs with part-time platform SME support across the 9-month programme.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Name / Location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30051"/>
                          </a:solidFill>
                        </a:defRPr>
                      </a:pPr>
                      <a:r>
                        <a:t>Tech Lead / Architect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Devesh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30051"/>
                          </a:solidFill>
                        </a:defRPr>
                      </a:pPr>
                      <a:r>
                        <a:t>Senior AI/ML Engineer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Abdalla Abdakarim + 1 Offshore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30051"/>
                          </a:solidFill>
                        </a:defRPr>
                      </a:pPr>
                      <a:r>
                        <a:t>Backend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Offshore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30051"/>
                          </a:solidFill>
                        </a:defRPr>
                      </a:pPr>
                      <a:r>
                        <a:t>Frontend Engineer / Tester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2D2D"/>
                          </a:solidFill>
                        </a:defRPr>
                      </a:pPr>
                      <a:r>
                        <a:t>Offshore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54864" cy="45720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Part-time SMEs: 3DP (20%), BIKG (20%), AI Ops (10%), Data Foundation (10%) — additional platform SMEs engaged during discovery phase as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30051"/>
                </a:solidFill>
              </a:defRPr>
            </a:pPr>
            <a:r>
              <a:t>Team Allocation by Phase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9768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8738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1 (Mar-May)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Phase 2 (Jun-Aug)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3 (Sep-Nov)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Devesh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Architecture, AI Ops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RAG + Ingestion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Graph DB, lineage design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Abdalla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LLM test generation, prompts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RAG pipeline, Q&amp;A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Lineage extraction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ML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Synthetic data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Schema 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Impact analysis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Backend Eng 1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generation APIs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Knowledge search APIs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Lineage storage APIs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Backend Eng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runner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Ingestion mapping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Lineage query APIs</a:t>
                      </a:r>
                    </a:p>
                  </a:txBody>
                  <a:tcPr anchor="ctr"/>
                </a:tc>
              </a:tr>
              <a:tr h="28738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Frontend / Tester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dashboard, QA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Chat UI, Mapping UI, QA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Lineage graph UI, QA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2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>
                <a:solidFill>
                  <a:srgbClr val="2D2D2D"/>
                </a:solidFill>
              </a:rPr>
              <a:t>4 Agents for </a:t>
            </a:r>
            <a:r>
              <a:rPr sz="3200" i="1" b="1">
                <a:solidFill>
                  <a:srgbClr val="830051"/>
                </a:solidFill>
              </a:rPr>
              <a:t>R&amp;D IT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A portfolio of Agentic AI opportunities selected for high impact on primary platforms (3DP, BIKG), with flexibility to extend to additional platforms during discovery.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Platforms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Process Bottleneck Addressed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Test Intelligence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3DP, BIKG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Slow Validation and Release Cycles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#5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Knowledge Library Companion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3DP, BIKG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Lack of Reusable &amp; Standardised Pipeline Components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#6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Ingestion Companion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3DP, BIKG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Time-Consuming Data Ingestion and Preparation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#8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Auto-Lineage Agent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3.75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3DP, BIKG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Manual Data Management and Traceability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30051"/>
                </a:solidFill>
              </a:defRPr>
            </a:pPr>
            <a:r>
              <a:t>Platform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1225296" cy="256032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56432"/>
            <a:ext cx="11338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3DP (Primary)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5376" y="3429000"/>
            <a:ext cx="1298448" cy="256032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6816" y="3456432"/>
            <a:ext cx="12070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BIKG (Primary)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3429000"/>
            <a:ext cx="3785615" cy="256032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3456432"/>
            <a:ext cx="36941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Additional platforms identified during 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54864" cy="45720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</a:defRPr>
            </a:pPr>
            <a:r>
              <a:t>Extensibility: All agents are designed with a platform-agnostic architecture. During discovery workshops, we will identify 1-2 additional platforms where these agents can be tailored and deployed.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30051"/>
                </a:solidFill>
              </a:defRPr>
            </a:pPr>
            <a:r>
              <a:t>Target Outcomes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2286000" cy="91440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Less Manual 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754880"/>
            <a:ext cx="2286000" cy="91440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8920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Faster Answers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754880"/>
            <a:ext cx="2286000" cy="91440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48920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25-30%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Faster Ingestion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754880"/>
            <a:ext cx="2286000" cy="914400"/>
          </a:xfrm>
          <a:prstGeom prst="rect">
            <a:avLst/>
          </a:prstGeom>
          <a:solidFill>
            <a:srgbClr val="FAF9F7"/>
          </a:solidFill>
          <a:ln w="381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8920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30051"/>
                </a:solidFill>
              </a:defRPr>
            </a:pPr>
            <a:r>
              <a:t>15-25%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440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Less Manual 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3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>
                <a:solidFill>
                  <a:srgbClr val="2D2D2D"/>
                </a:solidFill>
              </a:rPr>
              <a:t>Agent Benefits: </a:t>
            </a:r>
            <a:r>
              <a:rPr sz="3200" i="1" b="1">
                <a:solidFill>
                  <a:srgbClr val="830051"/>
                </a:solidFill>
              </a:rPr>
              <a:t>3DP &amp; BIKG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Detailed value proposition for the two primary pilot platforms.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3DP Benefit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BIKG Benefit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Test Intelligence Agent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Generate regulatory validation test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Generate KG query test cases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Synthetic patient data for submission testing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Synthetic biological entity data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Find similar past submission test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Find similar failed BIKG queries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Knowledge Library Companion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"How do I prepare a Module 3 submission?"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"How do I query gene-disease relationships?"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Search regulatory guidelines, SOPs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Search biological ontologies, data dictionaries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Summarize 500-page FDA guidance docs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Summarize pathway documentation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Ingestion Companion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Auto-detect regulatory data schemas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Auto-detect biological data schemas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Map source data to submission format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Map source data to KG ontologies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Improve ingestion prep by 25-30%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Reduce manual data mapping</a:t>
                      </a:r>
                    </a:p>
                  </a:txBody>
                  <a:tcPr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  <a:r>
                        <a:t>Auto-Lineage Agent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Regulatory audit trail (FDA/EMA requirement)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Gene → Protein → Drug lineage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830051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FAIR compliance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Data provenance tracking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4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i="1">
                <a:solidFill>
                  <a:srgbClr val="2D2D2D"/>
                </a:solidFill>
              </a:rPr>
              <a:t>Main steps to </a:t>
            </a:r>
            <a:r>
              <a:rPr sz="3000" i="1" b="1">
                <a:solidFill>
                  <a:srgbClr val="830051"/>
                </a:solidFill>
              </a:rPr>
              <a:t>mobilise and build</a:t>
            </a:r>
            <a:r>
              <a:rPr sz="3000" i="1">
                <a:solidFill>
                  <a:srgbClr val="2D2D2D"/>
                </a:solidFill>
              </a:rPr>
              <a:t>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A structured plan to build 4 AI agents, co-design Human+AI workflows, and enable change across R&amp;D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566160" cy="36576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March –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66160" cy="32004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Phase 1: Test Intelligence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Build foundational testing automation for 3DP and BIKG, validating the agentic approach with high-impact MVP.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ACTIVITIES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Conduct discovery workshops with 3DP, BIKG teams</a:t>
            </a:r>
            <a:br/>
            <a:r>
              <a:t>• Build LLM-powered test generation, synthetic data</a:t>
            </a:r>
            <a:br/>
            <a:r>
              <a:t>• Integrate with 3DP and BIKG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1. Test Intelligence Agent deployed</a:t>
            </a:r>
            <a:br/>
            <a:r>
              <a:t>2. 25% reduction in manual test effort</a:t>
            </a:r>
            <a:br/>
            <a:r>
              <a:t>3. Reusable prompts &amp; templates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34440"/>
            <a:ext cx="3566160" cy="36576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307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June – August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600200"/>
            <a:ext cx="3566160" cy="32004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Phase 2: Knowledge Library +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94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Scale to knowledge management and data ingestion, enabling self-service docs and automated data onboarding.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880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63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Build RAG pipeline for document search and Q&amp;A</a:t>
            </a:r>
            <a:br/>
            <a:r>
              <a:t>• Build schema inference and auto-mapping</a:t>
            </a:r>
            <a:br/>
            <a:r>
              <a:t>• Design human-in-the-loop review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06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89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1. Knowledge Library with docs indexed</a:t>
            </a:r>
            <a:br/>
            <a:r>
              <a:t>2. Ingestion Companion with auto-schema</a:t>
            </a:r>
            <a:br/>
            <a:r>
              <a:t>3. 50% faster answers, 25-30% faster ingestion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123444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234440"/>
            <a:ext cx="35661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307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September – November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1600200"/>
            <a:ext cx="3566160" cy="32004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Phase 3: Auto-Lineage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0116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194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Complete the data lifecycle with lineage tracking, enabling FAIR compliance and regulatory audit readiness.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880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ACTIVITIES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063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Define lineage requirements for regulatory and biological data</a:t>
            </a:r>
            <a:br/>
            <a:r>
              <a:t>• Build graph-based lineage extraction</a:t>
            </a:r>
            <a:br/>
            <a:r>
              <a:t>• Implement FAIR evidence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206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89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1. Auto-Lineage Agent deployed</a:t>
            </a:r>
            <a:br/>
            <a:r>
              <a:t>2. FAIR compliance evidence for 3DP</a:t>
            </a:r>
            <a:br/>
            <a:r>
              <a:t>3. Training materials for scaling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5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i="1">
                <a:solidFill>
                  <a:srgbClr val="2D2D2D"/>
                </a:solidFill>
              </a:rPr>
              <a:t>Proposed </a:t>
            </a:r>
            <a:r>
              <a:rPr sz="3000" i="1" b="1">
                <a:solidFill>
                  <a:srgbClr val="830051"/>
                </a:solidFill>
              </a:rPr>
              <a:t>timelines</a:t>
            </a:r>
            <a:r>
              <a:rPr sz="3000" i="1">
                <a:solidFill>
                  <a:srgbClr val="2D2D2D"/>
                </a:solidFill>
              </a:rPr>
              <a:t> for 9-month mobilisation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</a:tblGrid>
              <a:tr h="37279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Mar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Apr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May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Jun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Jul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Aug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Sep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Oct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Nov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Opportunity Selection &amp;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1: Test Intelligence Agent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■◆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  Discovery &amp;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  LLM Test Gen &amp; Synthetic Data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  Platform Integration &amp; 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3005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2: Knowledge Library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4A000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4A000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4A000"/>
                          </a:solidFill>
                        </a:defRPr>
                      </a:pPr>
                      <a:r>
                        <a:t>■◆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2: Ingestion Companion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4A000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4A000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4A000"/>
                          </a:solidFill>
                        </a:defRPr>
                      </a:pPr>
                      <a:r>
                        <a:t>■◆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3: Auto-Lineage Agent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■◆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  Graph DB &amp; Lineage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  Extraction &amp; Visualization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55555"/>
                          </a:solidFill>
                        </a:defRPr>
                      </a:pPr>
                      <a:r>
                        <a:t>  FAIR Compliance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/>
                </a:tc>
              </a:tr>
              <a:tr h="37280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Training &amp; Enablement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■◆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06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A000"/>
                </a:solidFill>
              </a:defRPr>
            </a:pPr>
            <a:r>
              <a:t>◆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806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30051"/>
                </a:solidFill>
              </a:defRPr>
            </a:pPr>
            <a:r>
              <a:t>■ Phase 1: Test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8064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A000"/>
                </a:solidFill>
              </a:defRPr>
            </a:pPr>
            <a:r>
              <a:t>■ Phase 2: Knowledge +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806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■ Phase 3: Auto-Lineage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6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>
                <a:solidFill>
                  <a:srgbClr val="2D2D2D"/>
                </a:solidFill>
              </a:rPr>
              <a:t>Success </a:t>
            </a:r>
            <a:r>
              <a:rPr sz="3200" i="1" b="1">
                <a:solidFill>
                  <a:srgbClr val="830051"/>
                </a:solidFill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Key performance indicators for each agent MVP.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Test Intelligence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Manual test effort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Test coverage increase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Platforms integrated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3DP, BIKG + discovery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Knowledge Library Companion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Time-to-answer reduction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Documents indexed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1000+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Query success rate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Ingestion Companion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Ingestion prep time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25-30%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Schema inference accuracy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Platforms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3DP, BIKG + discovery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Auto-Lineage Agent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Manual traceability reduction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15-25%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Lineage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3DP, BIKG + discovery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FAIR compliance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Audit-ready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7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>
                <a:solidFill>
                  <a:srgbClr val="2D2D2D"/>
                </a:solidFill>
              </a:rPr>
              <a:t>Key </a:t>
            </a:r>
            <a:r>
              <a:rPr sz="3200" i="1" b="1">
                <a:solidFill>
                  <a:srgbClr val="830051"/>
                </a:solidFill>
              </a:rP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9-month delivery roadmap with clear deliverables for each phase.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M1 (Mar)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Discovery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Requirements from 3DP, BIKG + additional platforms identified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M2 (Apr)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Test Gen API Live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LLM test generation working with Claude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M3 (May)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4A000"/>
                          </a:solidFill>
                        </a:defRPr>
                      </a:pPr>
                      <a:r>
                        <a:t>◆ Agent 1 Pilot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3DP + BIKG using Test Intelligence Agent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M4 (Jun)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RAG + Schema Ready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Docs crawled, schema detection working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M5 (Jul)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Q&amp;A + Mapping Live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Knowledge search + ingestion mapping APIs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M6 (Aug)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2D2D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4A000"/>
                          </a:solidFill>
                        </a:defRPr>
                      </a:pPr>
                      <a:r>
                        <a:t>◆ Agents 2 &amp; 3 Pilot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Knowledge Library + Ingestion Companion live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M7 (Sep)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Graph DB 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Lineage schema deployed to Neptune/Neo4j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M8 (Oct)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Lineage Extraction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Metadata captured across platforms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M9 (Nov)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C4A000"/>
                          </a:solidFill>
                        </a:defRPr>
                      </a:pPr>
                      <a:r>
                        <a:t>◆ All 4 Agents Live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2D2D"/>
                          </a:solidFill>
                        </a:defRPr>
                      </a:pPr>
                      <a:r>
                        <a:t>FAIR compliance, full deployment, training complete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8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1430000" y="6217920"/>
            <a:ext cx="548640" cy="548640"/>
          </a:xfrm>
          <a:prstGeom prst="triangle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1521440" y="6355080"/>
            <a:ext cx="365760" cy="365760"/>
          </a:xfrm>
          <a:prstGeom prst="triangle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