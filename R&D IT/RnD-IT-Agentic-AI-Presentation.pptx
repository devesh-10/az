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</a:defRPr>
            </a:pPr>
            <a:r>
              <a:t>Example of Monitoring and Benefits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30051"/>
                </a:solidFill>
              </a:defRPr>
            </a:pPr>
            <a:r>
              <a:t>Use an example for one of our four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Monitoring &amp; Benefits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Test Intelligence Agent — Phase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914400" cy="22860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3DP &amp; BIKG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30051"/>
                </a:solidFill>
              </a:defRPr>
            </a:pPr>
            <a:r>
              <a:t>BENEFITS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73152" cy="5486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Reduced Manual Testing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AI generates test cases automatically for regulatory validation, freeing engineers to focus on development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73152" cy="5486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Increased Test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Discovers edge cases and validation scenarios that manual testing often misses, improving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73152" cy="5486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Faster Release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Automated test generation accelerates validation timelines for submissions and data pipelines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73152" cy="5486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Regulatory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Consistent, auditable test coverage for FDA/EMA submission requirements and GxP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30051"/>
                </a:solidFill>
              </a:defRPr>
            </a:pPr>
            <a:r>
              <a:t>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194560"/>
            <a:ext cx="128016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30051"/>
                </a:solidFill>
              </a:defRPr>
            </a:pPr>
            <a: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97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Test Effort</a:t>
            </a:r>
            <a:br/>
            <a:r>
              <a:t>Reduction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194560"/>
            <a:ext cx="128016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30051"/>
                </a:solidFill>
              </a:defRPr>
            </a:pPr>
            <a: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Coverage</a:t>
            </a:r>
            <a:br/>
            <a:r>
              <a:t>Increase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2194560"/>
            <a:ext cx="128016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30051"/>
                </a:solidFill>
              </a:defRPr>
            </a:pPr>
            <a: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97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Defects</a:t>
            </a:r>
            <a:br/>
            <a:r>
              <a:t>Caught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2194560"/>
            <a:ext cx="128016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30051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697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Platforms</a:t>
            </a:r>
            <a:br/>
            <a:r>
              <a:t>Integrated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200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30051"/>
                </a:solidFill>
              </a:defRPr>
            </a:pPr>
            <a:r>
              <a:t>Usage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4747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Tests Generated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4747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30051"/>
                </a:solidFill>
              </a:defRPr>
            </a:pPr>
            <a:r>
              <a:t>1,247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37033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Test Suites Created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703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30051"/>
                </a:solidFill>
              </a:defRPr>
            </a:pPr>
            <a:r>
              <a:t>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31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Success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39319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30051"/>
                </a:solidFill>
              </a:defRPr>
            </a:pPr>
            <a:r>
              <a:t>98.2%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41605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Avg Generation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1605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30051"/>
                </a:solidFill>
              </a:defRPr>
            </a:pPr>
            <a:r>
              <a:t>2.3s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572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30051"/>
                </a:solidFill>
              </a:defRPr>
            </a:pPr>
            <a:r>
              <a:t>Cost Tracking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8463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LLM API (Bedrock)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30051"/>
                </a:solidFill>
              </a:defRPr>
            </a:pPr>
            <a:r>
              <a:t>$4,200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0749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Embedding Service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50749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30051"/>
                </a:solidFill>
              </a:defRPr>
            </a:pPr>
            <a:r>
              <a:t>$850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3035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Infrastructure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53035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30051"/>
                </a:solidFill>
              </a:defRPr>
            </a:pPr>
            <a:r>
              <a:t>$500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30051"/>
                </a:solidFill>
              </a:defRPr>
            </a:pPr>
            <a:r>
              <a:t>Platform Integration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3474720"/>
            <a:ext cx="25603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35204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</a:defRPr>
            </a:pPr>
            <a:r>
              <a:t>3DP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703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Drug Development Platform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064240" y="3566160"/>
            <a:ext cx="45720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4023360"/>
            <a:ext cx="256032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4069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</a:defRPr>
            </a:pPr>
            <a:r>
              <a:t>BIKG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2519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Knowledge Graph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064240" y="4114800"/>
            <a:ext cx="457200" cy="228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30051"/>
                </a:solidFill>
              </a:defRPr>
            </a:pPr>
            <a:r>
              <a:t>Model Performance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49377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Test Accuracy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89920" y="4937760"/>
            <a:ext cx="822960" cy="182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94%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2120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Data Validity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89920" y="5212080"/>
            <a:ext cx="822960" cy="182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91%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5486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First Review Approval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789920" y="5486400"/>
            <a:ext cx="822960" cy="1828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89%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0" y="5760720"/>
            <a:ext cx="2743200" cy="3657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7D32"/>
                </a:solidFill>
              </a:defRPr>
            </a:pPr>
            <a:r>
              <a:t>Budget: $5,550/mo (Under $7.5K target)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9680" y="5760720"/>
            <a:ext cx="27432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ROI: $48K Annual Savings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Definition and measurement methodology for each KPI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Test Effort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463039"/>
            <a:ext cx="73152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Percentage decrease in manual hours spent writing test cases compared to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39"/>
            <a:ext cx="493776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Measurement: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(Baseline Hours − Current Hours) / Baseline Hours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493776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Example: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Before: 40 hrs/sprint for Module 2/3 validation tests → After: 30 hrs/sprint = 25%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8016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63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Coverage Increase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1463039"/>
            <a:ext cx="73152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Increase in test scenarios covered, including edge cases previously untested.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377439"/>
            <a:ext cx="493776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Measurement: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(New Scenarios − Original) / Original × 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926080"/>
            <a:ext cx="493776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Example: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AI discovered 47 new edge cases for GxP validation and CDISC format compliance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Data Quality 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023360"/>
            <a:ext cx="73152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Validity rate of AI-generated synthetic test data passing all schema validations.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37760"/>
            <a:ext cx="493776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834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Measurement: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Valid Records / Total Generated × 100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86400"/>
            <a:ext cx="493776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Example: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Synthetic patient data for submissions — 90% passes CDISC and regulatory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84048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Platforms Integrated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4023360"/>
            <a:ext cx="73152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89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Number of R&amp;D IT platforms where the agent is deployed and generating tests.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937760"/>
            <a:ext cx="493776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9834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Measurement: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166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3DP (Drug Development Data Platform) and BIKG (Biological Intelligence KG)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486400"/>
            <a:ext cx="493776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5321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30051"/>
                </a:solidFill>
              </a:defRPr>
            </a:pPr>
            <a:r>
              <a:t>Example: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715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2 primary platforms in Phase 1, extensible to additional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</a:defRPr>
            </a:pPr>
            <a:r>
              <a:t>Platform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How Test Intelligence Agent delivers value on 3DP and BIKG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73152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457200" cy="18288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Regulatory Validation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Auto-generate validation tests for FDA/EMA submission modules and GxP compliance.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Module 2/3 submission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Patient Safety data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GxP compliance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Audit trail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188720"/>
            <a:ext cx="3474720" cy="73152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261872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0" y="1371600"/>
            <a:ext cx="457200" cy="18288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Data Pipeline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Validate data transformations and integrations across the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3774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Portfolio Tower ingestion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606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Study Cycle Time 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8346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CRO operational data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63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Cross-reference integrity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188720"/>
            <a:ext cx="3474720" cy="73152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1261872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0" y="1371600"/>
            <a:ext cx="457200" cy="18288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3DP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Synthetic Test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Generate compliant synthetic data for testing without using real patient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3774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CDISC-compliant patient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06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Adverse event test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8346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Lab results within valid ranges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0632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Clinical trial mock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39"/>
            <a:ext cx="347472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822191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3931920"/>
            <a:ext cx="457200" cy="18288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BIKG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Knowledge Graph Query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4805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Generate test cases for graph traversal and relationship queries.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377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Gene-disease relationship queries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1663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Protein-drug interactions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949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Pathway traversal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235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Query performance testing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3749039"/>
            <a:ext cx="347472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0" y="3822191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06240" y="3931920"/>
            <a:ext cx="457200" cy="18288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BIKG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Entity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4805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Validate biological entity data integrity and ontology consistency.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9377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Entity attribute completeness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51663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Ontology term consistency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53949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Cross-reference accuracy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6235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Relationship cardinality checks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3749039"/>
            <a:ext cx="347472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3822191"/>
            <a:ext cx="34747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863840" y="3931920"/>
            <a:ext cx="457200" cy="18288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BIKG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</a:defRPr>
            </a:pPr>
            <a:r>
              <a:t>Synthetic Biological 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448055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Generate test data for biological entities and relationships.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49377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Mock gene expression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51663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Synthetic pathway 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53949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Test entity relationships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562355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555"/>
                </a:solidFill>
              </a:defRPr>
            </a:pPr>
            <a:r>
              <a:t>• Sample KG traversal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</a:defRPr>
            </a:pPr>
            <a:r>
              <a:t>Scalable, Agent Mesh, future proof architecture for AZ's R&amp;D Agentic ambition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5303520"/>
          </a:xfrm>
          <a:prstGeom prst="rect">
            <a:avLst/>
          </a:prstGeom>
          <a:solidFill>
            <a:srgbClr val="FAFAFA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[Architecture Diagram]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AWS Cloud | VPC | ECS Fargate | Agent Runtime | Mesh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Azure AD → Route 53 → ALB → Frontend ECS → Agent Runtime ECS → Bedrock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4 Agents: Test Intelligence | Dependency | Deployment | Regulatory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CI/CD: CodeCommit → CodeBuild → CodeDeploy → ECR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</a:defRPr>
            </a:pPr>
            <a:r>
              <a:t>1. These four agents collectively form a modular R&amp;D intelligence fabric — enabling knowledge retrieval, experiment validation, data reasoning, and governed orchestration — all operating within a secure, federated Agent Mesh architecture aligned to AZ's Enterprise Agentic AI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200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</a:defRPr>
            </a:pPr>
            <a:r>
              <a:t>2. To accelerate implementation, we will leverage AI-assisted engineering (Claude Code) to generate validated scaffolding, typed contracts, test harnesses, and infrastructure templates — while maintaining full human governance, security review, and CI/CD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From Manual Processes to Intelligent Automation: AI-Powered R&amp;D IT Platform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AI Agents reduce cycle time by 40-60% while improving compliance, quality, and cross-team coordination for 3DP &amp; BIKG Platforms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11612880" cy="36576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Accelerate delivery by 40-60% | AI-Orchestrated intelligent workflow across Testing, Dependencies, Deployments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914400" cy="502920"/>
          </a:xfrm>
          <a:prstGeom prst="roundRect">
            <a:avLst/>
          </a:prstGeom>
          <a:solidFill>
            <a:srgbClr val="5C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</a:t>
            </a:r>
            <a:br/>
            <a:r>
              <a:t>Duration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371600"/>
            <a:ext cx="2468880" cy="50292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 Intelligence</a:t>
            </a:r>
            <a:br/>
            <a:r>
              <a:t>Wave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325880"/>
            <a:ext cx="246888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39" y="1371600"/>
            <a:ext cx="2468880" cy="50292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Dependency Coordinator</a:t>
            </a:r>
            <a:br/>
            <a:r>
              <a:t>Wave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325880"/>
            <a:ext cx="246888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2468880" cy="50292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Deployment &amp; Change</a:t>
            </a:r>
            <a:br/>
            <a:r>
              <a:t>Wave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2468880" cy="457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1371600"/>
            <a:ext cx="2468880" cy="502920"/>
          </a:xfrm>
          <a:prstGeom prst="round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Regulatory Readiness</a:t>
            </a:r>
            <a:br/>
            <a:r>
              <a:t>Wave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325880"/>
            <a:ext cx="2468880" cy="45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4320" y="1920240"/>
            <a:ext cx="914400" cy="1005840"/>
          </a:xfrm>
          <a:prstGeom prst="roundRect">
            <a:avLst/>
          </a:prstGeom>
          <a:solidFill>
            <a:srgbClr val="5C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Today</a:t>
            </a:r>
            <a:br/>
            <a:r>
              <a:t>(Human-Led)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1920240"/>
            <a:ext cx="2468880" cy="10058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1965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3-4 weeks</a:t>
            </a:r>
            <a:br/>
            <a:r>
              <a:t>Manual test authoring. Long regression cycles, defect leakage.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1920240"/>
            <a:ext cx="2468880" cy="10058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79" y="1965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2-3 weeks</a:t>
            </a:r>
            <a:br/>
            <a:r>
              <a:t>Manual tracking via Jira/ADO. Cross-team friction, approval delays.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920240"/>
            <a:ext cx="2468880" cy="10058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1965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1-2 weeks</a:t>
            </a:r>
            <a:br/>
            <a:r>
              <a:t>Manual IaC. High change failure rate, drift incidents.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920240"/>
            <a:ext cx="2468880" cy="10058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19659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2-4 weeks</a:t>
            </a:r>
            <a:br/>
            <a:r>
              <a:t>Manual evidence gathering. Long audit prep, missing artefacts.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971800"/>
            <a:ext cx="914400" cy="100584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Tomorrow</a:t>
            </a:r>
            <a:br/>
            <a:r>
              <a:t>(AI-Powered)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2971800"/>
            <a:ext cx="2468880" cy="1005840"/>
          </a:xfrm>
          <a:prstGeom prst="round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1 week</a:t>
            </a:r>
            <a:br/>
            <a:r>
              <a:t>Automated test case generation. 25% reduction in test effort.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2971800"/>
            <a:ext cx="2468880" cy="1005840"/>
          </a:xfrm>
          <a:prstGeom prst="round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79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Days</a:t>
            </a:r>
            <a:br/>
            <a:r>
              <a:t>Automated dependency tracking. Early conflict detection.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971800"/>
            <a:ext cx="2468880" cy="1005840"/>
          </a:xfrm>
          <a:prstGeom prst="round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Hours</a:t>
            </a:r>
            <a:br/>
            <a:r>
              <a:t>Common IaC patterns. Reduced change failure rate, faster MTTR.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2971800"/>
            <a:ext cx="2468880" cy="1005840"/>
          </a:xfrm>
          <a:prstGeom prst="roundRect">
            <a:avLst/>
          </a:prstGeom>
          <a:solidFill>
            <a:srgbClr val="FF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</a:defRPr>
            </a:pPr>
            <a:r>
              <a:t>Hours</a:t>
            </a:r>
            <a:br/>
            <a:r>
              <a:t>Automated evidence generation. 100% complete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023360"/>
            <a:ext cx="914400" cy="822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1A"/>
                </a:solidFill>
              </a:defRPr>
            </a:pPr>
            <a:r>
              <a:t>AI Tools</a:t>
            </a:r>
            <a:br/>
            <a:r>
              <a:t>Used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402336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Claude</a:t>
            </a:r>
            <a:br/>
            <a:r>
              <a:t>Test Intelligence Agent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402336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79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Claude</a:t>
            </a:r>
            <a:br/>
            <a:r>
              <a:t>Dependency Coordinator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02336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79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Claude + Copilot</a:t>
            </a:r>
            <a:br/>
            <a:r>
              <a:t>Deploy &amp; Change Agent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402336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Claude</a:t>
            </a:r>
            <a:br/>
            <a:r>
              <a:t>Regulatory Readiness Agent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892040"/>
            <a:ext cx="91440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Value</a:t>
            </a:r>
            <a:br/>
            <a:r>
              <a:t>Delivered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" y="4892040"/>
            <a:ext cx="2468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5880" y="4937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25% faster</a:t>
            </a:r>
            <a:br/>
            <a:r>
              <a:t>Reduced test effort</a:t>
            </a:r>
            <a:br/>
            <a:r>
              <a:t>Higher coverage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49039" y="4892040"/>
            <a:ext cx="2468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79" y="4937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50% faster</a:t>
            </a:r>
            <a:br/>
            <a:r>
              <a:t>Reduced approval cycle</a:t>
            </a:r>
            <a:br/>
            <a:r>
              <a:t>Early conflict detection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4892040"/>
            <a:ext cx="2468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79" y="4937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70% faster</a:t>
            </a:r>
            <a:br/>
            <a:r>
              <a:t>Near-instant deployments</a:t>
            </a:r>
            <a:br/>
            <a:r>
              <a:t>Reduced change failure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78240" y="4892040"/>
            <a:ext cx="246888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4937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E7D32"/>
                </a:solidFill>
              </a:defRPr>
            </a:pPr>
            <a:r>
              <a:t>100% compliant</a:t>
            </a:r>
            <a:br/>
            <a:r>
              <a:t>Complete evidence packs</a:t>
            </a:r>
            <a:br/>
            <a:r>
              <a:t>Faster audit readiness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5852160"/>
            <a:ext cx="1161288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227"/>
                </a:solidFill>
              </a:defRPr>
            </a:pPr>
            <a:r>
              <a:t>AI for AI Delivery Impact: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✓ Launch readiness accelerated by 40-60%    ✓ 70% reduction in manual effort    ✓ 100% regulatory compliance    ✓ Enterprise-grade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'AI for AI' approach for delivery with R&amp;D IT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30051"/>
                </a:solidFill>
              </a:defRPr>
            </a:pPr>
            <a:r>
              <a:t>Leveraging an AI-first &amp; Agentic approach to establish the AI foundation in AZ's environment for 3DP &amp; BIKG Platforms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657600" cy="5303520"/>
          </a:xfrm>
          <a:prstGeom prst="roundRect">
            <a:avLst/>
          </a:prstGeom>
          <a:solidFill>
            <a:srgbClr val="F9F9F9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Today: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30051"/>
                </a:solidFill>
              </a:defRPr>
            </a:pPr>
            <a:r>
              <a:t>Manual, error-prone processes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WAVE 1 (MONTHS 0-3)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64008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1920240"/>
            <a:ext cx="457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3-4 wks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Manual test authoring. Error-prone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640080" cy="5486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Dependencies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560320"/>
            <a:ext cx="457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2-3 wks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Cross-team friction. Approval delays.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B1FA2"/>
                </a:solidFill>
              </a:defRPr>
            </a:pPr>
            <a:r>
              <a:t>WAVE 2 (MONTHS 3-6)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640080" cy="54864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566160"/>
            <a:ext cx="457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1-2 wks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Manual IaC. High change failure 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640080" cy="5486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4206240"/>
            <a:ext cx="457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2-4 wks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976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Manual evidence. Missing artefacts.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3291840" cy="365760"/>
          </a:xfrm>
          <a:prstGeom prst="roundRect">
            <a:avLst/>
          </a:prstGeom>
          <a:solidFill>
            <a:srgbClr val="5C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Siloed processes with limited visibility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914400"/>
            <a:ext cx="3931920" cy="5303520"/>
          </a:xfrm>
          <a:prstGeom prst="roundRect">
            <a:avLst/>
          </a:prstGeom>
          <a:solidFill>
            <a:srgbClr val="FFFD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100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</a:defRPr>
            </a:pPr>
            <a:r>
              <a:t>Tomorrow: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30051"/>
                </a:solidFill>
              </a:defRPr>
            </a:pPr>
            <a:r>
              <a:t>Agentic AI-powered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645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E7D32"/>
                </a:solidFill>
              </a:defRPr>
            </a:pPr>
            <a:r>
              <a:t>WAVE 1 (MONTHS 0-3)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920240"/>
            <a:ext cx="64008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1920240"/>
            <a:ext cx="457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1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Automated test generation. 25% reduction.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560320"/>
            <a:ext cx="640080" cy="5486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Dependencies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2560320"/>
            <a:ext cx="457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Automated tracking. Early conflict detection.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291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B1FA2"/>
                </a:solidFill>
              </a:defRPr>
            </a:pPr>
            <a:r>
              <a:t>WAVE 2 (MONTHS 3-6)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566160"/>
            <a:ext cx="640080" cy="548640"/>
          </a:xfrm>
          <a:prstGeom prst="round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3566160"/>
            <a:ext cx="457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Common IaC patterns. Faster MTTR.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206240"/>
            <a:ext cx="640080" cy="5486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4206240"/>
            <a:ext cx="457200" cy="5486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Hours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2976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E7D32"/>
                </a:solidFill>
              </a:defRPr>
            </a:pPr>
            <a:r>
              <a:t>Automated evidence. 100% complete.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5486400"/>
            <a:ext cx="3566160" cy="36576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Unified Agent Mesh with integrated 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914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830051"/>
                </a:solidFill>
              </a:defRPr>
            </a:pPr>
            <a:r>
              <a:t>AI for AI Delivery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1280160"/>
            <a:ext cx="4572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1280160"/>
            <a:ext cx="3474720" cy="6400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135331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Design Acceleration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157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Accelerate front-end design through prompting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1993391"/>
            <a:ext cx="457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0" y="1993391"/>
            <a:ext cx="3474720" cy="6400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2066543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Code Generation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22859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Fast track code generation with AI assistants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2706624"/>
            <a:ext cx="45720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12480" y="2706624"/>
            <a:ext cx="3474720" cy="6400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277977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Test Intelligence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2999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Automates testing across 3DP &amp; BIKG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3419856"/>
            <a:ext cx="4572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419856"/>
            <a:ext cx="3474720" cy="6400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34930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Dependency Coordinator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37124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Reduces rework and approval delays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133088"/>
            <a:ext cx="45720" cy="6400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412480" y="4133088"/>
            <a:ext cx="3474720" cy="6400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4206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Deployment &amp; Change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425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IaC maturity with high compliance value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4846320"/>
            <a:ext cx="45720" cy="6400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412480" y="4846320"/>
            <a:ext cx="3474720" cy="6400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49194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</a:defRPr>
            </a:pPr>
            <a:r>
              <a:t>Regulatory Readiness Agent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5138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</a:defRPr>
            </a:pPr>
            <a:r>
              <a:t>Compliance-heavy, evidence-focused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