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 i="0">
                <a:solidFill>
                  <a:srgbClr val="830051"/>
                </a:solidFill>
              </a:defRPr>
            </a:pPr>
            <a:r>
              <a:t>Test Intelligence Agent – Semantic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02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555555"/>
                </a:solidFill>
              </a:defRPr>
            </a:pPr>
            <a:r>
              <a:t>Multi-Agent Architecture for Autonomous Testing across R&amp;D Platforms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" y="914400"/>
            <a:ext cx="1645920" cy="2560320"/>
          </a:xfrm>
          <a:prstGeom prst="roundRect">
            <a:avLst/>
          </a:prstGeom>
          <a:solidFill>
            <a:srgbClr val="F8E0EB"/>
          </a:solidFill>
          <a:ln w="12700">
            <a:solidFill>
              <a:srgbClr val="8300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9601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830051"/>
                </a:solidFill>
              </a:defRPr>
            </a:pPr>
            <a:r>
              <a:t>KPI Data Products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325880"/>
            <a:ext cx="1371600" cy="411480"/>
          </a:xfrm>
          <a:prstGeom prst="roundRect">
            <a:avLst/>
          </a:prstGeom>
          <a:solidFill>
            <a:srgbClr val="4A148C"/>
          </a:solidFill>
          <a:ln w="12700">
            <a:solidFill>
              <a:srgbClr val="8300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399032"/>
            <a:ext cx="13716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 i="0">
                <a:solidFill>
                  <a:srgbClr val="FFFFFF"/>
                </a:solidFill>
              </a:defRPr>
            </a:pPr>
            <a:r>
              <a:t>3DP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1828800"/>
            <a:ext cx="1371600" cy="411480"/>
          </a:xfrm>
          <a:prstGeom prst="roundRect">
            <a:avLst/>
          </a:prstGeom>
          <a:solidFill>
            <a:srgbClr val="4A148C"/>
          </a:solidFill>
          <a:ln w="12700">
            <a:solidFill>
              <a:srgbClr val="8300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901952"/>
            <a:ext cx="13716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 i="0">
                <a:solidFill>
                  <a:srgbClr val="FFFFFF"/>
                </a:solidFill>
              </a:defRPr>
            </a:pPr>
            <a:r>
              <a:t>BIKG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2331720"/>
            <a:ext cx="1371600" cy="411480"/>
          </a:xfrm>
          <a:prstGeom prst="roundRect">
            <a:avLst/>
          </a:prstGeom>
          <a:solidFill>
            <a:srgbClr val="4A148C"/>
          </a:solidFill>
          <a:ln w="12700">
            <a:solidFill>
              <a:srgbClr val="8300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2404872"/>
            <a:ext cx="13716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 i="0">
                <a:solidFill>
                  <a:srgbClr val="FFFFFF"/>
                </a:solidFill>
              </a:defRPr>
            </a:pPr>
            <a:r>
              <a:t>Patient Safety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2834640"/>
            <a:ext cx="1371600" cy="411480"/>
          </a:xfrm>
          <a:prstGeom prst="roundRect">
            <a:avLst/>
          </a:prstGeom>
          <a:solidFill>
            <a:srgbClr val="4A148C"/>
          </a:solidFill>
          <a:ln w="12700">
            <a:solidFill>
              <a:srgbClr val="8300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2907792"/>
            <a:ext cx="13716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 i="0">
                <a:solidFill>
                  <a:srgbClr val="FFFFFF"/>
                </a:solidFill>
              </a:defRPr>
            </a:pPr>
            <a:r>
              <a:t>Clinical Trials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2880" y="3566160"/>
            <a:ext cx="1645920" cy="3017520"/>
          </a:xfrm>
          <a:prstGeom prst="roundRect">
            <a:avLst/>
          </a:prstGeom>
          <a:solidFill>
            <a:srgbClr val="F8E0EB"/>
          </a:solidFill>
          <a:ln w="12700">
            <a:solidFill>
              <a:srgbClr val="8300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" y="36118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830051"/>
                </a:solidFill>
              </a:defRPr>
            </a:pPr>
            <a:r>
              <a:t>Foundation Data</a:t>
            </a:r>
            <a:br/>
            <a:r>
              <a:t>Products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4114800"/>
            <a:ext cx="1371600" cy="411480"/>
          </a:xfrm>
          <a:prstGeom prst="roundRect">
            <a:avLst/>
          </a:prstGeom>
          <a:solidFill>
            <a:srgbClr val="4A148C"/>
          </a:solidFill>
          <a:ln w="12700">
            <a:solidFill>
              <a:srgbClr val="8300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4187952"/>
            <a:ext cx="13716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 i="0">
                <a:solidFill>
                  <a:srgbClr val="FFFFFF"/>
                </a:solidFill>
              </a:defRPr>
            </a:pPr>
            <a:r>
              <a:t>CDISC/ADaM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4617720"/>
            <a:ext cx="1371600" cy="411480"/>
          </a:xfrm>
          <a:prstGeom prst="roundRect">
            <a:avLst/>
          </a:prstGeom>
          <a:solidFill>
            <a:srgbClr val="4A148C"/>
          </a:solidFill>
          <a:ln w="12700">
            <a:solidFill>
              <a:srgbClr val="8300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4690872"/>
            <a:ext cx="13716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 i="0">
                <a:solidFill>
                  <a:srgbClr val="FFFFFF"/>
                </a:solidFill>
              </a:defRPr>
            </a:pPr>
            <a:r>
              <a:t>Regulatory Docs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" y="5120640"/>
            <a:ext cx="1371600" cy="411480"/>
          </a:xfrm>
          <a:prstGeom prst="roundRect">
            <a:avLst/>
          </a:prstGeom>
          <a:solidFill>
            <a:srgbClr val="4A148C"/>
          </a:solidFill>
          <a:ln w="12700">
            <a:solidFill>
              <a:srgbClr val="8300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5193792"/>
            <a:ext cx="13716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 i="0">
                <a:solidFill>
                  <a:srgbClr val="FFFFFF"/>
                </a:solidFill>
              </a:defRPr>
            </a:pPr>
            <a:r>
              <a:t>Study PLDB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20040" y="5623560"/>
            <a:ext cx="1371600" cy="411480"/>
          </a:xfrm>
          <a:prstGeom prst="roundRect">
            <a:avLst/>
          </a:prstGeom>
          <a:solidFill>
            <a:srgbClr val="4A148C"/>
          </a:solidFill>
          <a:ln w="12700">
            <a:solidFill>
              <a:srgbClr val="8300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5696712"/>
            <a:ext cx="13716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 i="0">
                <a:solidFill>
                  <a:srgbClr val="FFFFFF"/>
                </a:solidFill>
              </a:defRPr>
            </a:pPr>
            <a:r>
              <a:t>GxP Systems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0040" y="6126480"/>
            <a:ext cx="1371600" cy="411480"/>
          </a:xfrm>
          <a:prstGeom prst="roundRect">
            <a:avLst/>
          </a:prstGeom>
          <a:solidFill>
            <a:srgbClr val="4A148C"/>
          </a:solidFill>
          <a:ln w="12700">
            <a:solidFill>
              <a:srgbClr val="8300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6199632"/>
            <a:ext cx="13716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 i="0">
                <a:solidFill>
                  <a:srgbClr val="FFFFFF"/>
                </a:solidFill>
              </a:defRPr>
            </a:pPr>
            <a:r>
              <a:t>HPC Environ.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03520" y="914400"/>
            <a:ext cx="1280160" cy="640080"/>
          </a:xfrm>
          <a:prstGeom prst="roundRect">
            <a:avLst/>
          </a:prstGeom>
          <a:solidFill>
            <a:srgbClr val="E91E63"/>
          </a:solidFill>
          <a:ln w="12700">
            <a:solidFill>
              <a:srgbClr val="8300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520" y="100584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</a:defRPr>
            </a:pPr>
            <a:r>
              <a:t>Orchestrator</a:t>
            </a:r>
            <a:br/>
            <a:r>
              <a:t>Agent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914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0">
                <a:solidFill>
                  <a:srgbClr val="2D2D2D"/>
                </a:solidFill>
              </a:defRPr>
            </a:pPr>
            <a:r>
              <a:t>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0" y="132588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2D2D2D"/>
                </a:solidFill>
              </a:defRPr>
            </a:pPr>
            <a:r>
              <a:t>User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00400" y="1828800"/>
            <a:ext cx="1097280" cy="594360"/>
          </a:xfrm>
          <a:prstGeom prst="roundRect">
            <a:avLst/>
          </a:prstGeom>
          <a:solidFill>
            <a:srgbClr val="E91E63"/>
          </a:solidFill>
          <a:ln w="12700">
            <a:solidFill>
              <a:srgbClr val="8300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0" y="192024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FFFFFF"/>
                </a:solidFill>
              </a:defRPr>
            </a:pPr>
            <a:r>
              <a:t>Requirement</a:t>
            </a:r>
            <a:br/>
            <a:r>
              <a:t>Gathering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0" y="1828800"/>
            <a:ext cx="1097280" cy="594360"/>
          </a:xfrm>
          <a:prstGeom prst="roundRect">
            <a:avLst/>
          </a:prstGeom>
          <a:solidFill>
            <a:srgbClr val="E91E63"/>
          </a:solidFill>
          <a:ln w="12700">
            <a:solidFill>
              <a:srgbClr val="8300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0" y="192024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FFFFFF"/>
                </a:solidFill>
              </a:defRPr>
            </a:pPr>
            <a:r>
              <a:t>Test Strategy</a:t>
            </a:r>
            <a:br/>
            <a:r>
              <a:t>Agent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0" y="1828800"/>
            <a:ext cx="1097280" cy="594360"/>
          </a:xfrm>
          <a:prstGeom prst="roundRect">
            <a:avLst/>
          </a:prstGeom>
          <a:solidFill>
            <a:srgbClr val="4A148C"/>
          </a:solidFill>
          <a:ln w="12700">
            <a:solidFill>
              <a:srgbClr val="8300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43600" y="192024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FFFFFF"/>
                </a:solidFill>
              </a:defRPr>
            </a:pPr>
            <a:r>
              <a:t>Knowledge &amp;</a:t>
            </a:r>
            <a:br/>
            <a:r>
              <a:t>Memory Agent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00400" y="2743200"/>
            <a:ext cx="1097280" cy="594360"/>
          </a:xfrm>
          <a:prstGeom prst="roundRect">
            <a:avLst/>
          </a:prstGeom>
          <a:solidFill>
            <a:srgbClr val="E91E63"/>
          </a:solidFill>
          <a:ln w="12700">
            <a:solidFill>
              <a:srgbClr val="8300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0" y="283464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FFFFFF"/>
                </a:solidFill>
              </a:defRPr>
            </a:pPr>
            <a:r>
              <a:t>Test Case</a:t>
            </a:r>
            <a:br/>
            <a:r>
              <a:t>Generation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0" y="2743200"/>
            <a:ext cx="1097280" cy="594360"/>
          </a:xfrm>
          <a:prstGeom prst="roundRect">
            <a:avLst/>
          </a:prstGeom>
          <a:solidFill>
            <a:srgbClr val="E91E63"/>
          </a:solidFill>
          <a:ln w="12700">
            <a:solidFill>
              <a:srgbClr val="8300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0" y="283464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FFFFFF"/>
                </a:solidFill>
              </a:defRPr>
            </a:pPr>
            <a:r>
              <a:t>Test Script</a:t>
            </a:r>
            <a:br/>
            <a:r>
              <a:t>Generation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0" y="2743200"/>
            <a:ext cx="1097280" cy="594360"/>
          </a:xfrm>
          <a:prstGeom prst="roundRect">
            <a:avLst/>
          </a:prstGeom>
          <a:solidFill>
            <a:srgbClr val="E91E63"/>
          </a:solidFill>
          <a:ln w="12700">
            <a:solidFill>
              <a:srgbClr val="8300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43600" y="283464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FFFFFF"/>
                </a:solidFill>
              </a:defRPr>
            </a:pPr>
            <a:r>
              <a:t>Synthetic Data</a:t>
            </a:r>
            <a:br/>
            <a:r>
              <a:t>Generation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200400" y="3657600"/>
            <a:ext cx="1097280" cy="594360"/>
          </a:xfrm>
          <a:prstGeom prst="roundRect">
            <a:avLst/>
          </a:prstGeom>
          <a:solidFill>
            <a:srgbClr val="E91E63"/>
          </a:solidFill>
          <a:ln w="12700">
            <a:solidFill>
              <a:srgbClr val="8300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200400" y="374904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FFFFFF"/>
                </a:solidFill>
              </a:defRPr>
            </a:pPr>
            <a:r>
              <a:t>Test Execution</a:t>
            </a:r>
            <a:br/>
            <a:r>
              <a:t>Agent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0" y="3657600"/>
            <a:ext cx="1097280" cy="594360"/>
          </a:xfrm>
          <a:prstGeom prst="roundRect">
            <a:avLst/>
          </a:prstGeom>
          <a:solidFill>
            <a:srgbClr val="E91E63"/>
          </a:solidFill>
          <a:ln w="12700">
            <a:solidFill>
              <a:srgbClr val="8300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0" y="374904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FFFFFF"/>
                </a:solidFill>
              </a:defRPr>
            </a:pPr>
            <a:r>
              <a:t>Failure Analysis</a:t>
            </a:r>
            <a:br/>
            <a:r>
              <a:t>Agent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943600" y="3657600"/>
            <a:ext cx="1097280" cy="594360"/>
          </a:xfrm>
          <a:prstGeom prst="roundRect">
            <a:avLst/>
          </a:prstGeom>
          <a:solidFill>
            <a:srgbClr val="E91E63"/>
          </a:solidFill>
          <a:ln w="12700">
            <a:solidFill>
              <a:srgbClr val="8300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943600" y="374904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FFFFFF"/>
                </a:solidFill>
              </a:defRPr>
            </a:pPr>
            <a:r>
              <a:t>Code Refactor</a:t>
            </a:r>
            <a:br/>
            <a:r>
              <a:t>Agent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0" y="4572000"/>
            <a:ext cx="1097280" cy="594360"/>
          </a:xfrm>
          <a:prstGeom prst="roundRect">
            <a:avLst/>
          </a:prstGeom>
          <a:solidFill>
            <a:srgbClr val="E91E63"/>
          </a:solidFill>
          <a:ln w="12700">
            <a:solidFill>
              <a:srgbClr val="8300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0" y="466344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FFFFFF"/>
                </a:solidFill>
              </a:defRPr>
            </a:pPr>
            <a:r>
              <a:t>Reporting</a:t>
            </a:r>
            <a:br/>
            <a:r>
              <a:t>Agent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46720" y="22860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2D2D2D"/>
                </a:solidFill>
              </a:defRPr>
            </a:pPr>
            <a:r>
              <a:t>GitHub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46720" y="251460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555555"/>
                </a:solidFill>
              </a:defRPr>
            </a:pPr>
            <a:r>
              <a:t>Ontology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772400" y="3017520"/>
            <a:ext cx="1463040" cy="548640"/>
          </a:xfrm>
          <a:prstGeom prst="roundRect">
            <a:avLst/>
          </a:prstGeom>
          <a:solidFill>
            <a:srgbClr val="4A148C"/>
          </a:solidFill>
          <a:ln w="12700">
            <a:solidFill>
              <a:srgbClr val="8300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772400" y="306324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</a:defRPr>
            </a:pPr>
            <a:r>
              <a:t>Test</a:t>
            </a:r>
            <a:br/>
            <a:r>
              <a:t>Repository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772400" y="3749039"/>
            <a:ext cx="1463040" cy="548640"/>
          </a:xfrm>
          <a:prstGeom prst="roundRect">
            <a:avLst/>
          </a:prstGeom>
          <a:solidFill>
            <a:srgbClr val="4A148C"/>
          </a:solidFill>
          <a:ln w="12700">
            <a:solidFill>
              <a:srgbClr val="8300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772400" y="379476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</a:defRPr>
            </a:pPr>
            <a:r>
              <a:t>Evidence</a:t>
            </a:r>
            <a:br/>
            <a:r>
              <a:t>Store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772400" y="4480560"/>
            <a:ext cx="1463040" cy="640080"/>
          </a:xfrm>
          <a:prstGeom prst="roundRect">
            <a:avLst/>
          </a:prstGeom>
          <a:solidFill>
            <a:srgbClr val="4A148C"/>
          </a:solidFill>
          <a:ln w="25400">
            <a:solidFill>
              <a:srgbClr val="8300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772400" y="452628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</a:defRPr>
            </a:pPr>
            <a:r>
              <a:t>Knowledge</a:t>
            </a:r>
            <a:br/>
            <a:r>
              <a:t>Graph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286000" y="5303520"/>
            <a:ext cx="1280160" cy="502920"/>
          </a:xfrm>
          <a:prstGeom prst="roundRect">
            <a:avLst/>
          </a:prstGeom>
          <a:solidFill>
            <a:srgbClr val="4A148C"/>
          </a:solidFill>
          <a:ln w="12700">
            <a:solidFill>
              <a:srgbClr val="8300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286000" y="537667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</a:defRPr>
            </a:pPr>
            <a:r>
              <a:t>Data Pipeline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840480" y="5303520"/>
            <a:ext cx="1280160" cy="502920"/>
          </a:xfrm>
          <a:prstGeom prst="roundRect">
            <a:avLst/>
          </a:prstGeom>
          <a:solidFill>
            <a:srgbClr val="4A148C"/>
          </a:solidFill>
          <a:ln w="12700">
            <a:solidFill>
              <a:srgbClr val="8300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840480" y="5330952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FFFFFF"/>
                </a:solidFill>
              </a:defRPr>
            </a:pPr>
            <a:r>
              <a:t>Test Data</a:t>
            </a:r>
            <a:br/>
            <a:r>
              <a:t>Mapping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394960" y="5303520"/>
            <a:ext cx="1280160" cy="502920"/>
          </a:xfrm>
          <a:prstGeom prst="roundRect">
            <a:avLst/>
          </a:prstGeom>
          <a:solidFill>
            <a:srgbClr val="4A148C"/>
          </a:solidFill>
          <a:ln w="12700">
            <a:solidFill>
              <a:srgbClr val="8300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394960" y="5330952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FFFFFF"/>
                </a:solidFill>
              </a:defRPr>
            </a:pPr>
            <a:r>
              <a:t>Schema</a:t>
            </a:r>
            <a:br/>
            <a:r>
              <a:t>Registry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828800" y="21031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830051"/>
                </a:solidFill>
              </a:defRPr>
            </a:pPr>
            <a:r>
              <a:t>→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828800" y="30175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830051"/>
                </a:solidFill>
              </a:defRPr>
            </a:pPr>
            <a:r>
              <a:t>→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828800" y="39319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830051"/>
                </a:solidFill>
              </a:defRPr>
            </a:pPr>
            <a:r>
              <a:t>→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828800" y="48463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830051"/>
                </a:solidFill>
              </a:defRPr>
            </a:pPr>
            <a:r>
              <a:t>→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297680" y="20116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830051"/>
                </a:solidFill>
              </a:defRPr>
            </a:pPr>
            <a:r>
              <a:t>↔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669280" y="20116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830051"/>
                </a:solidFill>
              </a:defRPr>
            </a:pPr>
            <a:r>
              <a:t>↔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297680" y="29260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830051"/>
                </a:solidFill>
              </a:defRPr>
            </a:pPr>
            <a:r>
              <a:t>↔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669280" y="29260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830051"/>
                </a:solidFill>
              </a:defRPr>
            </a:pPr>
            <a:r>
              <a:t>↔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297680" y="38404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830051"/>
                </a:solidFill>
              </a:defRPr>
            </a:pPr>
            <a:r>
              <a:t>↔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669280" y="38404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830051"/>
                </a:solidFill>
              </a:defRPr>
            </a:pPr>
            <a:r>
              <a:t>↔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132320" y="32004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830051"/>
                </a:solidFill>
              </a:defRPr>
            </a:pPr>
            <a:r>
              <a:t>→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132320" y="39319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830051"/>
                </a:solidFill>
              </a:defRPr>
            </a:pPr>
            <a:r>
              <a:t>→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132320" y="46634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830051"/>
                </a:solidFill>
              </a:defRPr>
            </a:pPr>
            <a:r>
              <a:t>→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852160" y="15087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830051"/>
                </a:solidFill>
              </a:defRPr>
            </a:pPr>
            <a:r>
              <a:t>↓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029200" y="24688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830051"/>
                </a:solidFill>
              </a:defRPr>
            </a:pPr>
            <a:r>
              <a:t>↓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029200" y="33832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830051"/>
                </a:solidFill>
              </a:defRPr>
            </a:pPr>
            <a:r>
              <a:t>↓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029200" y="42976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830051"/>
                </a:solidFill>
              </a:defRPr>
            </a:pPr>
            <a:r>
              <a:t>↓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601200" y="9144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2D2D2D"/>
                </a:solidFill>
              </a:defRPr>
            </a:pPr>
            <a:r>
              <a:t>Agent Types: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9601200" y="1234440"/>
            <a:ext cx="365760" cy="228600"/>
          </a:xfrm>
          <a:prstGeom prst="roundRect">
            <a:avLst/>
          </a:prstGeom>
          <a:solidFill>
            <a:srgbClr val="E91E63"/>
          </a:solidFill>
          <a:ln w="12700">
            <a:solidFill>
              <a:srgbClr val="8300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0058400" y="12344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2D2D2D"/>
                </a:solidFill>
              </a:defRPr>
            </a:pPr>
            <a:r>
              <a:t>AI Agent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9601200" y="1554480"/>
            <a:ext cx="365760" cy="228600"/>
          </a:xfrm>
          <a:prstGeom prst="roundRect">
            <a:avLst/>
          </a:prstGeom>
          <a:solidFill>
            <a:srgbClr val="4A148C"/>
          </a:solidFill>
          <a:ln w="12700">
            <a:solidFill>
              <a:srgbClr val="8300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0058400" y="155448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2D2D2D"/>
                </a:solidFill>
              </a:defRPr>
            </a:pPr>
            <a:r>
              <a:t>Data/Storage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9601200" y="1874519"/>
            <a:ext cx="365760" cy="228600"/>
          </a:xfrm>
          <a:prstGeom prst="roundRect">
            <a:avLst/>
          </a:prstGeom>
          <a:solidFill>
            <a:srgbClr val="F8E0EB"/>
          </a:solidFill>
          <a:ln w="12700">
            <a:solidFill>
              <a:srgbClr val="8300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0058400" y="1874519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2D2D2D"/>
                </a:solidFill>
              </a:defRPr>
            </a:pPr>
            <a:r>
              <a:t>Platform Group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830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Test Intelligence Agent – Agent Descriptions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777240"/>
          <a:ext cx="11612880" cy="585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6583680"/>
                <a:gridCol w="2926080"/>
              </a:tblGrid>
              <a:tr h="4876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Agent</a:t>
                      </a:r>
                    </a:p>
                  </a:txBody>
                  <a:tcPr anchor="ctr">
                    <a:solidFill>
                      <a:srgbClr val="83005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Function</a:t>
                      </a:r>
                    </a:p>
                  </a:txBody>
                  <a:tcPr anchor="ctr">
                    <a:solidFill>
                      <a:srgbClr val="83005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Platform Integration</a:t>
                      </a:r>
                    </a:p>
                  </a:txBody>
                  <a:tcPr anchor="ctr">
                    <a:solidFill>
                      <a:srgbClr val="830051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830051"/>
                          </a:solidFill>
                        </a:defRPr>
                      </a:pPr>
                      <a:r>
                        <a:t>Orchestrator Agent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</a:defRPr>
                      </a:pPr>
                      <a:r>
                        <a:t>Central coordinator that manages workflow, delegates tasks to specialized agents, and ensures end-to-end test automation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555555"/>
                          </a:solidFill>
                        </a:defRPr>
                      </a:pPr>
                      <a:r>
                        <a:t>All Agents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830051"/>
                          </a:solidFill>
                        </a:defRPr>
                      </a:pPr>
                      <a:r>
                        <a:t>Requirement Gathering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</a:defRPr>
                      </a:pPr>
                      <a:r>
                        <a:t>Analyzes requirements docs, user stories, and specs from R&amp;D platforms to identify testable requirements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555555"/>
                          </a:solidFill>
                        </a:defRPr>
                      </a:pPr>
                      <a:r>
                        <a:t>3DP, BIKG, Regulatory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830051"/>
                          </a:solidFill>
                        </a:defRPr>
                      </a:pPr>
                      <a:r>
                        <a:t>Test Strategy Agent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</a:defRPr>
                      </a:pPr>
                      <a:r>
                        <a:t>Determines optimal testing approach based on risk analysis, coverage goals, and platform constraints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555555"/>
                          </a:solidFill>
                        </a:defRPr>
                      </a:pPr>
                      <a:r>
                        <a:t>All Platforms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830051"/>
                          </a:solidFill>
                        </a:defRPr>
                      </a:pPr>
                      <a:r>
                        <a:t>Test Case Generation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</a:defRPr>
                      </a:pPr>
                      <a:r>
                        <a:t>Auto-generates test cases from requirements using AI, covering positive, negative, and edge cases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555555"/>
                          </a:solidFill>
                        </a:defRPr>
                      </a:pPr>
                      <a:r>
                        <a:t>Schema Registry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830051"/>
                          </a:solidFill>
                        </a:defRPr>
                      </a:pPr>
                      <a:r>
                        <a:t>Test Script Generation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</a:defRPr>
                      </a:pPr>
                      <a:r>
                        <a:t>Converts test cases into executable scripts for target platforms and frameworks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555555"/>
                          </a:solidFill>
                        </a:defRPr>
                      </a:pPr>
                      <a:r>
                        <a:t>Test Repository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830051"/>
                          </a:solidFill>
                        </a:defRPr>
                      </a:pPr>
                      <a:r>
                        <a:t>Synthetic Data Generation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</a:defRPr>
                      </a:pPr>
                      <a:r>
                        <a:t>Creates schema-aware test datasets for HPC environments and validation scenarios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555555"/>
                          </a:solidFill>
                        </a:defRPr>
                      </a:pPr>
                      <a:r>
                        <a:t>Data Pipeline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830051"/>
                          </a:solidFill>
                        </a:defRPr>
                      </a:pPr>
                      <a:r>
                        <a:t>Test Execution Agent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</a:defRPr>
                      </a:pPr>
                      <a:r>
                        <a:t>Runs tests in parallel across platforms, manages environments, collects results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555555"/>
                          </a:solidFill>
                        </a:defRPr>
                      </a:pPr>
                      <a:r>
                        <a:t>HPC, 3DP, BIKG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830051"/>
                          </a:solidFill>
                        </a:defRPr>
                      </a:pPr>
                      <a:r>
                        <a:t>Failure Analysis Agent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</a:defRPr>
                      </a:pPr>
                      <a:r>
                        <a:t>AI-powered root cause analysis of test failures, identifies patterns and flaky tests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555555"/>
                          </a:solidFill>
                        </a:defRPr>
                      </a:pPr>
                      <a:r>
                        <a:t>Evidence Store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830051"/>
                          </a:solidFill>
                        </a:defRPr>
                      </a:pPr>
                      <a:r>
                        <a:t>Code Refactor Agent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</a:defRPr>
                      </a:pPr>
                      <a:r>
                        <a:t>Self-healing capability - auto-fixes broken selectors, adapts to UI/API changes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555555"/>
                          </a:solidFill>
                        </a:defRPr>
                      </a:pPr>
                      <a:r>
                        <a:t>Test Repository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830051"/>
                          </a:solidFill>
                        </a:defRPr>
                      </a:pPr>
                      <a:r>
                        <a:t>Knowledge &amp; Memory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</a:defRPr>
                      </a:pPr>
                      <a:r>
                        <a:t>Maintains context across sessions, learns from past executions, stores test intelligence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555555"/>
                          </a:solidFill>
                        </a:defRPr>
                      </a:pPr>
                      <a:r>
                        <a:t>Knowledge Graph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830051"/>
                          </a:solidFill>
                        </a:defRPr>
                      </a:pPr>
                      <a:r>
                        <a:t>Reporting Agent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</a:defRPr>
                      </a:pPr>
                      <a:r>
                        <a:t>Generates compliance reports, dashboards, and evidence capture for GxP audit trails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555555"/>
                          </a:solidFill>
                        </a:defRPr>
                      </a:pPr>
                      <a:r>
                        <a:t>Evidence Store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8300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R&amp;D Platform Integration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31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555555"/>
                </a:solidFill>
              </a:defRPr>
            </a:pPr>
            <a:r>
              <a:t>How the Test Intelligence Agent interacts with each R&amp;D platform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97280"/>
          <a:ext cx="116128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560320"/>
                <a:gridCol w="5303520"/>
                <a:gridCol w="210312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Platform</a:t>
                      </a:r>
                    </a:p>
                  </a:txBody>
                  <a:tcPr anchor="ctr">
                    <a:solidFill>
                      <a:srgbClr val="83005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Full Name</a:t>
                      </a:r>
                    </a:p>
                  </a:txBody>
                  <a:tcPr anchor="ctr">
                    <a:solidFill>
                      <a:srgbClr val="83005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Test Agent Integration</a:t>
                      </a:r>
                    </a:p>
                  </a:txBody>
                  <a:tcPr anchor="ctr">
                    <a:solidFill>
                      <a:srgbClr val="83005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Priority</a:t>
                      </a:r>
                    </a:p>
                  </a:txBody>
                  <a:tcPr anchor="ctr">
                    <a:solidFill>
                      <a:srgbClr val="83005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4A148C"/>
                          </a:solidFill>
                        </a:defRPr>
                      </a:pPr>
                      <a:r>
                        <a:t>3DP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</a:defRPr>
                      </a:pPr>
                      <a:r>
                        <a:t>Drug Development Platform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555555"/>
                          </a:solidFill>
                        </a:defRPr>
                      </a:pPr>
                      <a:r>
                        <a:t>Requirements extraction, test execution, API validation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C4A00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4A148C"/>
                          </a:solidFill>
                        </a:defRPr>
                      </a:pPr>
                      <a:r>
                        <a:t>BIKG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</a:defRPr>
                      </a:pPr>
                      <a:r>
                        <a:t>Biological Intelligence KG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555555"/>
                          </a:solidFill>
                        </a:defRPr>
                      </a:pPr>
                      <a:r>
                        <a:t>Knowledge graph queries, ontology validation, data integrity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C4A00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4A148C"/>
                          </a:solidFill>
                        </a:defRPr>
                      </a:pPr>
                      <a:r>
                        <a:t>Patient Safety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</a:defRPr>
                      </a:pPr>
                      <a:r>
                        <a:t>Safety Reporting System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555555"/>
                          </a:solidFill>
                        </a:defRPr>
                      </a:pPr>
                      <a:r>
                        <a:t>Compliance testing, regulatory validation, audit trails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 anchor="ctr">
                    <a:solidFill>
                      <a:srgbClr val="E91E6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4A148C"/>
                          </a:solidFill>
                        </a:defRPr>
                      </a:pPr>
                      <a:r>
                        <a:t>Clinical Trials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</a:defRPr>
                      </a:pPr>
                      <a:r>
                        <a:t>Trial Management System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555555"/>
                          </a:solidFill>
                        </a:defRPr>
                      </a:pPr>
                      <a:r>
                        <a:t>Protocol validation, data consistency, CDISC compliance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 anchor="ctr">
                    <a:solidFill>
                      <a:srgbClr val="E91E6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4A148C"/>
                          </a:solidFill>
                        </a:defRPr>
                      </a:pPr>
                      <a:r>
                        <a:t>CDISC/ADaM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</a:defRPr>
                      </a:pPr>
                      <a:r>
                        <a:t>Clinical Data Standards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555555"/>
                          </a:solidFill>
                        </a:defRPr>
                      </a:pPr>
                      <a:r>
                        <a:t>Format validation, transformation testing, standard compliance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C4A00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4A148C"/>
                          </a:solidFill>
                        </a:defRPr>
                      </a:pPr>
                      <a:r>
                        <a:t>Regulatory Docs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</a:defRPr>
                      </a:pPr>
                      <a:r>
                        <a:t>Submission Documents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555555"/>
                          </a:solidFill>
                        </a:defRPr>
                      </a:pPr>
                      <a:r>
                        <a:t>Module 2/3 validation, cross-reference integrity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 anchor="ctr">
                    <a:solidFill>
                      <a:srgbClr val="E91E6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4A148C"/>
                          </a:solidFill>
                        </a:defRPr>
                      </a:pPr>
                      <a:r>
                        <a:t>Study PLDB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</a:defRPr>
                      </a:pPr>
                      <a:r>
                        <a:t>Patient Level Database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555555"/>
                          </a:solidFill>
                        </a:defRPr>
                      </a:pPr>
                      <a:r>
                        <a:t>Data quality validation, PII protection testing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C4A00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4A148C"/>
                          </a:solidFill>
                        </a:defRPr>
                      </a:pPr>
                      <a:r>
                        <a:t>GxP Systems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</a:defRPr>
                      </a:pPr>
                      <a:r>
                        <a:t>Validated Systems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555555"/>
                          </a:solidFill>
                        </a:defRPr>
                      </a:pPr>
                      <a:r>
                        <a:t>21 CFR Part 11 compliance, audit trail testing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 anchor="ctr">
                    <a:solidFill>
                      <a:srgbClr val="E91E6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4A148C"/>
                          </a:solidFill>
                        </a:defRPr>
                      </a:pPr>
                      <a:r>
                        <a:t>HPC Environment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D2D2D"/>
                          </a:solidFill>
                        </a:defRPr>
                      </a:pPr>
                      <a:r>
                        <a:t>High Performance Compute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555555"/>
                          </a:solidFill>
                        </a:defRPr>
                      </a:pPr>
                      <a:r>
                        <a:t>Environment testing, synthetic data scenarios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1E88E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6263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2D2D2D"/>
                </a:solidFill>
              </a:defRPr>
            </a:pPr>
            <a:r>
              <a:t>Priority Legend: 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6309360"/>
            <a:ext cx="731520" cy="228600"/>
          </a:xfrm>
          <a:prstGeom prst="roundRect">
            <a:avLst/>
          </a:prstGeom>
          <a:solidFill>
            <a:srgbClr val="E91E63"/>
          </a:solidFill>
          <a:ln w="12700">
            <a:solidFill>
              <a:srgbClr val="8300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20" y="6309360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FFFFFF"/>
                </a:solidFill>
              </a:defRPr>
            </a:pPr>
            <a:r>
              <a:t>Critical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6309360"/>
            <a:ext cx="548640" cy="228600"/>
          </a:xfrm>
          <a:prstGeom prst="roundRect">
            <a:avLst/>
          </a:prstGeom>
          <a:solidFill>
            <a:srgbClr val="C4A000"/>
          </a:solidFill>
          <a:ln w="12700">
            <a:solidFill>
              <a:srgbClr val="8300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31720" y="63093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FFFFFF"/>
                </a:solidFill>
              </a:defRPr>
            </a:pPr>
            <a:r>
              <a:t>High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7520" y="6309360"/>
            <a:ext cx="640080" cy="228600"/>
          </a:xfrm>
          <a:prstGeom prst="roundRect">
            <a:avLst/>
          </a:prstGeom>
          <a:solidFill>
            <a:srgbClr val="1E88E5"/>
          </a:solidFill>
          <a:ln w="12700">
            <a:solidFill>
              <a:srgbClr val="8300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63240" y="630936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FFFFFF"/>
                </a:solidFill>
              </a:defRPr>
            </a:pPr>
            <a:r>
              <a:t>Medium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