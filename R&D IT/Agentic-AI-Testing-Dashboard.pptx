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Test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1">
                <a:solidFill>
                  <a:srgbClr val="FFFFFF"/>
                </a:solidFill>
              </a:defRPr>
            </a:pPr>
            <a:r>
              <a:t>Agentic AI Dashboard for Autonomous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55555"/>
                </a:solidFill>
              </a:defRPr>
            </a:pPr>
            <a:r>
              <a:t>Phase 1  |  3DP &amp; BIKG Platforms  |  R&amp;D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256032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830051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AI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474720"/>
            <a:ext cx="256032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Autonomy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474720"/>
            <a:ext cx="256032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Test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474720"/>
            <a:ext cx="256032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C4A000"/>
                </a:solidFill>
              </a:defRPr>
            </a:pPr>
            <a:r>
              <a:t>$48K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Annual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30051"/>
                </a:solidFill>
              </a:defRPr>
            </a:pPr>
            <a:r>
              <a:t>What is Agentic AI Testing?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t>Intelligent AI agents that autonomously generate, execute, analyze, and heal tests - reducing manual effort by 40% while increasing coverage and catching 98% of critical bugs before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Before vs After: The Agentic AI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914400"/>
            <a:ext cx="45720" cy="566928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830051"/>
                </a:solidFill>
              </a:defRPr>
            </a:pPr>
            <a:r>
              <a:t>Process Bottleneck: Slow Validation and Release Cycles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55778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BEFORE: Manual Testing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828800"/>
          <a:ext cx="5577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468880"/>
              </a:tblGrid>
              <a:tr h="325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Pain Point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Engineers write every test case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Run tests one by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Failure Interpretation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Hours spent debugging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Evidence Capture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Screenshots, logs collected by hand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Synthetic Test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No schema-aware data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HPC Environment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Manual selection of test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Validation Cycle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Slow release due to QA bottleneck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Manual Testing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Heavy reliance on human testers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4892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</a:defRPr>
            </a:pPr>
            <a:r>
              <a:t>Key Challenges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212080"/>
            <a:ext cx="557784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62828"/>
                </a:solidFill>
              </a:defRPr>
            </a:pPr>
            <a:r>
              <a:t>✗ Slow Validation: QA bottleneck delays releases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96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62828"/>
                </a:solidFill>
              </a:defRPr>
            </a:pPr>
            <a:r>
              <a:t>✗ Rework: Failed tests require manual investigation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887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62828"/>
                </a:solidFill>
              </a:defRPr>
            </a:pPr>
            <a:r>
              <a:t>✗ Limited Coverage: Can't test all metadata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813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62828"/>
                </a:solidFill>
              </a:defRPr>
            </a:pPr>
            <a:r>
              <a:t>✗ Not Reusable: Tests tied to specific platforms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80160"/>
            <a:ext cx="55778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AFTER: Test Intelligence Agent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09360" y="1828800"/>
          <a:ext cx="5577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2286000"/>
              </a:tblGrid>
              <a:tr h="325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AI generates test cases from specs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Parallel execution across platforms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Failure Interpretation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AI analyzes &amp; explains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Evidence Capture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Auto-capture logs, screenshots, traces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Synthetic Test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AI-Generated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Schema-aware test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HPC Environment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Smart Selection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AI selects relevant test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Validation Cycle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78% faster release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Manual Testing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25-30%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Reusable across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309360" y="4892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7D32"/>
                </a:solidFill>
              </a:defRPr>
            </a:pPr>
            <a:r>
              <a:t>Key Benefits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212080"/>
            <a:ext cx="557784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</a:defRPr>
            </a:pPr>
            <a:r>
              <a:t>✓ Faster Validation: Accelerated release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596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</a:defRPr>
            </a:pPr>
            <a:r>
              <a:t>✓ Reduced Rework: AI interprets failures automatically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8887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</a:defRPr>
            </a:pPr>
            <a:r>
              <a:t>✓ Metadata-Scenario Testing: Improved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61813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</a:defRPr>
            </a:pPr>
            <a:r>
              <a:t>✓ Reusable: Works across engineering &amp; data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Detailed Improvement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Test Intelligence Agent Scorecard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Feasibility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Adoption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Weighted Score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3005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3005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3005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3005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4A000"/>
                          </a:solidFill>
                        </a:defRPr>
                      </a:pPr>
                      <a:r>
                        <a:t>4.30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2103120"/>
            <a:ext cx="274320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E7D32"/>
                </a:solidFill>
              </a:defRPr>
            </a:pPr>
            <a:r>
              <a:t>25-30%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Effort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55555"/>
                </a:solidFill>
              </a:defRPr>
            </a:pPr>
            <a:r>
              <a:t>Manual testing reduced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103120"/>
            <a:ext cx="274320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E88E5"/>
                </a:solidFill>
              </a:defRPr>
            </a:pPr>
            <a: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Faster Releases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55555"/>
                </a:solidFill>
              </a:defRPr>
            </a:pPr>
            <a:r>
              <a:t>2 weeks → 3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74320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830051"/>
                </a:solidFill>
              </a:defRPr>
            </a:pPr>
            <a:r>
              <a:t>Auto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Test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55555"/>
                </a:solidFill>
              </a:defRPr>
            </a:pPr>
            <a:r>
              <a:t>Schema-aware datasets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03120"/>
            <a:ext cx="274320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4A000"/>
                </a:solidFill>
              </a:defRPr>
            </a:pPr>
            <a:r>
              <a:t>Reusable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Cross-Platform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55555"/>
                </a:solidFill>
              </a:defRPr>
            </a:pPr>
            <a:r>
              <a:t>Engineering &amp; data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37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Detailed Capability Comparison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3657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3657600"/>
              </a:tblGrid>
              <a:tr h="284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Test Design &amp; Creation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Manual (40+ hrs/wk)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Automated (AI)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Engineers focus on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Test Execution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Sequential, 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Parallel, Automated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Faster feedback loops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Failure Interpretation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Manual (hours)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AI-Powered (seconds)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Instant root cause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Evidence Capture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Manual collection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Auto-captured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Complete audit trail for GxP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Synthetic Test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None / 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Schema-aware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Better edge case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HPC Environment Testing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Limited selection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AI-selected scenarios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Relevant tests automatically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Validation Cycle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78% faster releases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Manual Testing Effort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6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7D32"/>
                          </a:solidFill>
                        </a:defRPr>
                      </a:pPr>
                      <a:r>
                        <a:t>70-75%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E7D32"/>
                          </a:solidFill>
                        </a:defRPr>
                      </a:pPr>
                      <a:r>
                        <a:t>25-30% reduction achieved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65760" y="6309360"/>
            <a:ext cx="114300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Potential Value: 25-30% manual effort reduction  |  Reusable across engineering &amp; data teams  |  Improved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Agent Orchestration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30051"/>
                </a:solidFill>
              </a:defRPr>
            </a:pPr>
            <a:r>
              <a:t>Multi-Agent System for Autonomous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7D32"/>
                </a:solidFill>
              </a:defRPr>
            </a:pPr>
            <a:r>
              <a:t>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</a:defRPr>
            </a:pPr>
            <a:r>
              <a:t>Creates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57575"/>
                </a:solidFill>
              </a:defRPr>
            </a:pPr>
            <a:r>
              <a:t>Agent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1828800"/>
            <a:ext cx="548640" cy="365760"/>
          </a:xfrm>
          <a:prstGeom prst="rightArrow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01168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7D32"/>
                </a:solidFill>
              </a:defRPr>
            </a:pPr>
            <a:r>
              <a:t>EXECUTOR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</a:defRPr>
            </a:pPr>
            <a:r>
              <a:t>Runs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57575"/>
                </a:solidFill>
              </a:defRPr>
            </a:pPr>
            <a:r>
              <a:t>Agent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77840" y="1828800"/>
            <a:ext cx="548640" cy="365760"/>
          </a:xfrm>
          <a:prstGeom prst="rightArrow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01168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E88E5"/>
                </a:solidFill>
              </a:defRPr>
            </a:pPr>
            <a:r>
              <a:t>ANALYZER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</a:defRPr>
            </a:pPr>
            <a:r>
              <a:t>Finds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40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57575"/>
                </a:solidFill>
              </a:defRPr>
            </a:pPr>
            <a:r>
              <a:t>Agent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21040" y="1828800"/>
            <a:ext cx="548640" cy="365760"/>
          </a:xfrm>
          <a:prstGeom prst="rightArrow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01168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4A000"/>
                </a:solidFill>
              </a:defRPr>
            </a:pPr>
            <a:r>
              <a:t>HEALER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</a:defRPr>
            </a:pPr>
            <a:r>
              <a:t>Auto-Fixes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240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57575"/>
                </a:solidFill>
              </a:defRPr>
            </a:pPr>
            <a:r>
              <a:t>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926080"/>
            <a:ext cx="201168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30051"/>
                </a:solidFill>
              </a:defRPr>
            </a:pPr>
            <a:r>
              <a:t>OPTIMIZER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</a:defRPr>
            </a:pPr>
            <a:r>
              <a:t>Learns &amp; Improves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Agent Capabilities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4348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Input Sources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Generator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Auto-generates test cases from requirements, code changes, and user behavior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Requirements, Code Commits, User Journeys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Test Cases, Test Suites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Runs tests across 3,000+ device/browser/OS combinations in parallel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Test Suites, CI/CD Triggers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Execution Results, Logs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88E5"/>
                          </a:solidFill>
                        </a:defRPr>
                      </a:pPr>
                      <a:r>
                        <a:t>Analyzer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Root cause analysis, pattern detection, flaky test identification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Test Results, Historical Data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Defect Reports, Risk Scores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Healer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Auto-fixes broken selectors, adapts to UI changes, self-healing scripts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Failed Tests, DOM Changes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Fixed Tests, Change Logs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Learns from results, prioritizes high-risk areas, reduces redundancy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All Agent Outputs,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Optimized Test Suite, Recommendations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Agentic AI Testing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30051"/>
                </a:solidFill>
              </a:defRPr>
            </a:pPr>
            <a:r>
              <a:t>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71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E7D32"/>
                </a:solidFill>
              </a:defRPr>
            </a:pPr>
            <a:r>
              <a:t>+12%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Tests without human intervention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914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E7D32"/>
                </a:solidFill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234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2E7D32"/>
                </a:solidFill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371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E7D32"/>
                </a:solidFill>
              </a:defRPr>
            </a:pPr>
            <a:r>
              <a:t>+3%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Correct test generation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914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4A000"/>
                </a:solidFill>
              </a:defRPr>
            </a:pPr>
            <a:r>
              <a:t>SELF-HEAL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C4A000"/>
                </a:solidFill>
              </a:defRPr>
            </a:pPr>
            <a: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71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E7D32"/>
                </a:solidFill>
              </a:defRPr>
            </a:pPr>
            <a:r>
              <a:t>+15%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Auto-fixed broken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914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88E5"/>
                </a:solidFill>
              </a:defRPr>
            </a:pPr>
            <a: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234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E88E5"/>
                </a:solidFill>
              </a:defRPr>
            </a:pPr>
            <a:r>
              <a:t>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1371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E7D32"/>
                </a:solidFill>
              </a:defRPr>
            </a:pPr>
            <a:r>
              <a:t>+15%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Code paths 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30051"/>
                </a:solidFill>
              </a:defRPr>
            </a:pPr>
            <a:r>
              <a:t>Agent Status (Live)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5760" y="27889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Task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Actions/hr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Generator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GxP Module 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1,247 tests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Analyzer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88E5"/>
                          </a:solidFill>
                        </a:defRPr>
                      </a:pPr>
                      <a:r>
                        <a:t>Thinking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Root cause #2847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Healer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757575"/>
                          </a:solidFill>
                        </a:defRPr>
                      </a:pPr>
                      <a:r>
                        <a:t>Standby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Waiting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30051"/>
                </a:solidFill>
              </a:defRPr>
            </a:pPr>
            <a:r>
              <a:t>Agent Reasoning 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88920"/>
            <a:ext cx="548640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880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14:32  GENERATOR  Generated 23 GxP tests (94% confidence)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46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14:28  ANALYZER   Found flaky test root cause: async race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611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14:15  HEALER     Auto-fixed selector #submit → #submitBtn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776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14:02  EXECUTOR   Completed Module 2.3 suite (156 tests)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30051"/>
                </a:solidFill>
              </a:defRPr>
            </a:pPr>
            <a:r>
              <a:t>Human-in-the-Loop Controls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892040"/>
            <a:ext cx="5486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Execution Mode:   [Autonomous]  [Supervised]  [Manual]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Controls:   [ Pause All ]   [ Stop All ]   [ Rollback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4A000"/>
                </a:solidFill>
              </a:defRPr>
            </a:pPr>
            <a:r>
              <a:t>Approval Queue: 3 actions pending human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035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   Delete 47 obsolete tests | Modify prod API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30051"/>
                </a:solidFill>
              </a:defRPr>
            </a:pPr>
            <a:r>
              <a:t>Predictive Risk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892040"/>
            <a:ext cx="5486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62828"/>
                </a:solidFill>
              </a:defRPr>
            </a:pPr>
            <a: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Module 3.2.S.4 (Drug Substance)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029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C62828"/>
                </a:solidFill>
              </a:defRPr>
            </a:pPr>
            <a:r>
              <a:t>87%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86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7C00"/>
                </a:solidFill>
              </a:defRPr>
            </a:pPr>
            <a:r>
              <a:t>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Patient Safety Reporting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5486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57C00"/>
                </a:solidFill>
              </a:defRPr>
            </a:pPr>
            <a:r>
              <a:t>62%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43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A000"/>
                </a:solidFill>
              </a:defRPr>
            </a:pPr>
            <a: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943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CDISC ADaM Transformation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C4A000"/>
                </a:solidFill>
              </a:defRPr>
            </a:pPr>
            <a:r>
              <a:t>41%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AI Test Generation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1,247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Tests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This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New 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+23% vs last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Time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vs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Bug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Pre-Production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Test Generation Sources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25603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Requirements Documents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Module 2/3 submission specs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User Behavior 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Click patterns, user journeys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Code Changes (Commits)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New API endpoints detected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Historical Bug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Previous defect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1792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Test Types Generated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25603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Type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Positive Path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512 (41%)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Happy flows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Negative Path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7C00"/>
                          </a:solidFill>
                        </a:defRPr>
                      </a:pPr>
                      <a:r>
                        <a:t>387 (31%)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Error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Edge Case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223 (18%)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Boundary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Security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125 (10%)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Injection, 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6576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Example: AI-Generated Test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937760"/>
            <a:ext cx="114300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Test: GxP_Module3_DrugSubstance_NullPointer_EdgeCase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AUTO-GENERATED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5029200"/>
            <a:ext cx="21031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AUTO-GENERATED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40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Source:      Code commit #a3f2d91 - New null check path in DrugSubstanceValidator.java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Rationale:   Agent detected unguarded null pointer dereference with no existing test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Priority:    HIGH - Regulatory impact (GxP compliance requirement)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Status:      Generated → Executed → PASSED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Self-Healing Test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C4A000"/>
                </a:solidFill>
              </a:defRPr>
            </a:pPr>
            <a:r>
              <a:t>67%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Self-Heal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Tests auto-fixed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Maintenance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vs traditional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1E88E5"/>
                </a:solidFill>
              </a:defRPr>
            </a:pPr>
            <a:r>
              <a:t>2.3s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Avg Fix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Instant remediation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C4A000"/>
                </a:solidFill>
              </a:defRPr>
            </a:pPr>
            <a:r>
              <a:t>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Auto-Healed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This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194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How the Healer Agent Works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256032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4114800"/>
                <a:gridCol w="38404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Detect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Agent monitors test execution for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Test #2831 failed: element not found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Analyze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AI analyzes DOM changes, screenshots,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Button ID changed: #submit → #submitBtn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Generate 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Agent creates updated selector/script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Updated XPath with visual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Verify &amp; Deploy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Re-run test, confirm pass, deploy 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Test passed Healed selector deployed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6576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Types of Auto-Healing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47091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Healing Type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What It Fixes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Selector Healing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Element IDs, classes, XPaths that changed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Visual Healing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UI layout changes using image recognition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Timing Healing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Async issues, race conditions, waits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Data Healing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Test data that became stale or invalid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179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Impact: Before vs After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17920" y="47091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Maintenance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40 hrs/week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24 hrs/week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Flaky Test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Time to Fix Broken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2828"/>
                          </a:solidFill>
                        </a:defRPr>
                      </a:pPr>
                      <a:r>
                        <a:t>4 hours avg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2.3 seconds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Cost Tracking &amp; ROI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C4A000"/>
                </a:solidFill>
              </a:defRPr>
            </a:pPr>
            <a:r>
              <a:t>$5,550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Monthly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56% of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830051"/>
                </a:solidFill>
              </a:defRPr>
            </a:pPr>
            <a:r>
              <a:t>$7,500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Budget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On Track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</a:defRPr>
            </a:pPr>
            <a:r>
              <a:t>$48K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Annual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ROI: 3.2x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91440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1E88E5"/>
                </a:solidFill>
              </a:defRPr>
            </a:pPr>
            <a:r>
              <a:t>$3.37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Cost per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57575"/>
                </a:solidFill>
              </a:defRPr>
            </a:pPr>
            <a:r>
              <a:t>-18% vs last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Cost Breakdown by Agent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25603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Tokens (M)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Generator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1.4M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$1,840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88E5"/>
                          </a:solidFill>
                        </a:defRPr>
                      </a:pPr>
                      <a:r>
                        <a:t>Analyzer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0.8M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$1,050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0.5M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$680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Healer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0.3M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$420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0.2M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$210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1792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Infrastructure Costs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25603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LLM API (AWS Bedrock - Claude)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4A000"/>
                          </a:solidFill>
                        </a:defRPr>
                      </a:pPr>
                      <a:r>
                        <a:t>$4,200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Embedding Service (Titan)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4A000"/>
                          </a:solidFill>
                        </a:defRPr>
                      </a:pPr>
                      <a:r>
                        <a:t>$850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Infrastructure (Lambda, S3, etc.)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4A000"/>
                          </a:solidFill>
                        </a:defRPr>
                      </a:pPr>
                      <a:r>
                        <a:t>$500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1792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ROI Analysis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17920" y="44805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Savings Category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Annual Value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Reduced Manual Test Creation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$24,000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Faster Release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$12,000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Self-Healing (Maintenance)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$8,000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Defect Prevention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$4,000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365760" y="4754880"/>
            <a:ext cx="5486400" cy="1463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TOTAL ANNUAL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</a:defRPr>
            </a:pPr>
            <a:r>
              <a:t>$48,000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t>3.2x Return on Investment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Platform Integration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Integrated Platforms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9144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3DP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Drug Development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BIKG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Biological Intelligence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CDISC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Clinical Data Standards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STAGING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CI/CD Pipeline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2D2D2D"/>
                </a:solidFill>
              </a:defRPr>
            </a:pPr>
            <a:r>
              <a:t>main  →  build  →  test  → 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2E7D32"/>
                </a:solidFill>
              </a:defRPr>
            </a:pPr>
            <a:r>
              <a:t>   ✓         ✓          ●          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</a:defRPr>
            </a:pPr>
            <a:r>
              <a:t>Last successful deploy: 2 hours 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1E88E5"/>
                </a:solidFill>
              </a:defRPr>
            </a:pPr>
            <a:r>
              <a:t>Current: Running validation suite (1,247 tests)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Agent Observability Features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47472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41148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Reasoning Traces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Full visibility into agent decision-making process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Debug AI behavior, explain outcomes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Real-time Dashboards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Live metrics on agent status, performance, costs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Immediate issue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Alerting &amp; Notifications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Configurable alerts for anomalies and failures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Proactive incident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Audit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Complete history of agent actions for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Regulatory traceability (GxP)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Model Performance Metrics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669280"/>
          <a:ext cx="5486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Data Validity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User Satisfaction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4.2/5 (87%)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1792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Governance &amp;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669280"/>
            <a:ext cx="5486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806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GxP Compliance: All agent actions logged and 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080759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Human Oversight: Critical actions require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355079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Data Privacy: No PII in training or inference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30051"/>
                </a:solidFill>
              </a:defRPr>
            </a:pPr>
            <a:r>
              <a:t>Key Achievements - Phase 1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5 AI Agents deployed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Generator, Executor, Analyzer, Healer, Optimizer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7830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78% Autonomy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Tests running without human intervention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94% Test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957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AI-generated tests catching real bugs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6974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67% 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Broken tests auto-fixed instantly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1546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$48K Annual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101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3.2x ROI on investment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6118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2 Platforms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673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3DP and BIKG fully integrated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30051"/>
                </a:solidFill>
              </a:defRPr>
            </a:pPr>
            <a:r>
              <a:t>Next Steps - Phase 2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1325880"/>
            <a:ext cx="137160" cy="137160"/>
          </a:xfrm>
          <a:prstGeom prst="ellips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280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Expand to CDISC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4813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Clinical data standards integration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1783080"/>
            <a:ext cx="137160" cy="137160"/>
          </a:xfrm>
          <a:prstGeom prst="ellips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Increase Autonomy to 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9385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Reduce human intervention further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2240280"/>
            <a:ext cx="137160" cy="137160"/>
          </a:xfrm>
          <a:prstGeom prst="ellips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Add Predictive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3957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AI predicts where bugs will occur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2697480"/>
            <a:ext cx="137160" cy="137160"/>
          </a:xfrm>
          <a:prstGeom prst="ellips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651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Multi-Agent Collaboration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Agents working together on complex tasks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3154680"/>
            <a:ext cx="137160" cy="137160"/>
          </a:xfrm>
          <a:prstGeom prst="ellips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Natural Language Interface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3101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Talk to agents to generate tests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3611880"/>
            <a:ext cx="137160" cy="137160"/>
          </a:xfrm>
          <a:prstGeom prst="ellips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566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2D2D"/>
                </a:solidFill>
              </a:defRPr>
            </a:pPr>
            <a:r>
              <a:t>Production Monitoring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673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Detect issues in live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389120"/>
            <a:ext cx="11430000" cy="2194560"/>
          </a:xfrm>
          <a:prstGeom prst="rect">
            <a:avLst/>
          </a:prstGeom>
          <a:solidFill>
            <a:srgbClr val="FAF9F7"/>
          </a:solidFill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30051"/>
                </a:solidFill>
              </a:defRPr>
            </a:pPr>
            <a:r>
              <a:t>The Future of Testing is Agentic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555555"/>
                </a:solidFill>
              </a:defRPr>
            </a:pPr>
            <a:r>
              <a:t>AI agents that think, act, and learn autonomously - transforming QA from a bottleneck into a competitive advantage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E7D32"/>
                </a:solidFill>
              </a:defRPr>
            </a:pPr>
            <a:r>
              <a:t>70%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555555"/>
                </a:solidFill>
              </a:defRPr>
            </a:pPr>
            <a:r>
              <a:t>of enterprises adopting</a:t>
            </a:r>
            <a:br/>
            <a:r>
              <a:t>Agentic AI by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E7D32"/>
                </a:solidFill>
              </a:defRPr>
            </a:pPr>
            <a:r>
              <a:t>15%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555555"/>
                </a:solidFill>
              </a:defRPr>
            </a:pPr>
            <a:r>
              <a:t>of work decisions made</a:t>
            </a:r>
            <a:br/>
            <a:r>
              <a:t>by AI agents by 2028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E7D32"/>
                </a:solidFill>
              </a:defRPr>
            </a:pPr>
            <a:r>
              <a:t>40%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555555"/>
                </a:solidFill>
              </a:defRPr>
            </a:pPr>
            <a:r>
              <a:t>reduction in testing</a:t>
            </a:r>
            <a:br/>
            <a:r>
              <a:t>costs with AI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