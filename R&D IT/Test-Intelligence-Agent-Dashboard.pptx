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i="1">
                <a:solidFill>
                  <a:srgbClr val="2D2D2D"/>
                </a:solidFill>
              </a:rPr>
              <a:t>Example of </a:t>
            </a:r>
            <a:r>
              <a:rPr sz="2800" i="1" b="1">
                <a:solidFill>
                  <a:srgbClr val="830051"/>
                </a:solidFill>
              </a:rPr>
              <a:t>Monitoring &amp; Benefits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</a:defRPr>
            </a:pPr>
            <a:r>
              <a:t>Test Intelligence Agent — Phase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830051"/>
                </a:solidFill>
              </a:defRPr>
            </a:pPr>
            <a:r>
              <a:t>BENEFITS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502920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</a:tblGrid>
              <a:tr h="12344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D2D2D"/>
                          </a:solidFill>
                        </a:defRPr>
                      </a:pPr>
                      <a:r>
                        <a:t>Reduced Manual Testing Effort</a:t>
                      </a:r>
                    </a:p>
                    <a:p>
                      <a:pPr>
                        <a:defRPr sz="900" b="0">
                          <a:solidFill>
                            <a:srgbClr val="555555"/>
                          </a:solidFill>
                        </a:defRPr>
                      </a:pPr>
                      <a:r>
                        <a:t>AI generates test cases automatically, freeing engineers to focus on development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344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D2D2D"/>
                          </a:solidFill>
                        </a:defRPr>
                      </a:pPr>
                      <a:r>
                        <a:t>Increased Test Coverage</a:t>
                      </a:r>
                    </a:p>
                    <a:p>
                      <a:pPr>
                        <a:defRPr sz="900" b="0">
                          <a:solidFill>
                            <a:srgbClr val="555555"/>
                          </a:solidFill>
                        </a:defRPr>
                      </a:pPr>
                      <a:r>
                        <a:t>Discovers edge cases and scenarios that manual testing often misses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344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D2D2D"/>
                          </a:solidFill>
                        </a:defRPr>
                      </a:pPr>
                      <a:r>
                        <a:t>Faster Release Cycles</a:t>
                      </a:r>
                    </a:p>
                    <a:p>
                      <a:pPr>
                        <a:defRPr sz="900" b="0">
                          <a:solidFill>
                            <a:srgbClr val="555555"/>
                          </a:solidFill>
                        </a:defRPr>
                      </a:pPr>
                      <a:r>
                        <a:t>Automated test generation accelerates validation and deployment timelines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344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D2D2D"/>
                          </a:solidFill>
                        </a:defRPr>
                      </a:pPr>
                      <a:r>
                        <a:t>Regulatory Compliance</a:t>
                      </a:r>
                    </a:p>
                    <a:p>
                      <a:pPr>
                        <a:defRPr sz="900" b="0">
                          <a:solidFill>
                            <a:srgbClr val="555555"/>
                          </a:solidFill>
                        </a:defRPr>
                      </a:pPr>
                      <a:r>
                        <a:t>Consistent, auditable test coverage for FDA/EMA submission requirements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760720" y="10058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830051"/>
                </a:solidFill>
              </a:defRPr>
            </a:pPr>
            <a:r>
              <a:t>MONITORING 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0" y="132588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1">
                <a:solidFill>
                  <a:srgbClr val="2D2D2D"/>
                </a:solidFill>
              </a:defRPr>
            </a:pPr>
            <a:r>
              <a:t>Key Performance Indicators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760720" y="1554480"/>
          <a:ext cx="585216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463040"/>
                <a:gridCol w="1463040"/>
                <a:gridCol w="146304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2E7D32"/>
                          </a:solidFill>
                        </a:defRPr>
                      </a:pPr>
                      <a:r>
                        <a:t>[%]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2E7D32"/>
                          </a:solidFill>
                        </a:defRPr>
                      </a:pPr>
                      <a:r>
                        <a:t>[%]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C4A000"/>
                          </a:solidFill>
                        </a:defRPr>
                      </a:pPr>
                      <a:r>
                        <a:t>[%]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830051"/>
                          </a:solidFill>
                        </a:defRPr>
                      </a:pPr>
                      <a:r>
                        <a:t>[#]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</a:defRPr>
                      </a:pPr>
                      <a:r>
                        <a:t>Test Effort</a:t>
                      </a:r>
                    </a:p>
                    <a:p>
                      <a:r>
                        <a:t>Reduction</a:t>
                      </a:r>
                    </a:p>
                  </a:txBody>
                  <a:tcPr anchor="ctr"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</a:defRPr>
                      </a:pPr>
                      <a:r>
                        <a:t>Coverage</a:t>
                      </a:r>
                    </a:p>
                    <a:p>
                      <a:r>
                        <a:t>Increase</a:t>
                      </a:r>
                    </a:p>
                  </a:txBody>
                  <a:tcPr anchor="ctr"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</a:defRPr>
                      </a:pPr>
                      <a:r>
                        <a:t>Data Quality</a:t>
                      </a:r>
                    </a:p>
                    <a:p>
                      <a:r>
                        <a:t>Score</a:t>
                      </a:r>
                    </a:p>
                  </a:txBody>
                  <a:tcPr anchor="ctr"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D2D2D"/>
                          </a:solidFill>
                        </a:defRPr>
                      </a:pPr>
                      <a:r>
                        <a:t>Platforms</a:t>
                      </a:r>
                    </a:p>
                    <a:p>
                      <a:r>
                        <a:t>Integrated</a:t>
                      </a:r>
                    </a:p>
                  </a:txBody>
                  <a:tcPr anchor="ctr">
                    <a:solidFill>
                      <a:srgbClr val="FAF9F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760720" y="251460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1">
                <a:solidFill>
                  <a:srgbClr val="2D2D2D"/>
                </a:solidFill>
              </a:defRPr>
            </a:pPr>
            <a:r>
              <a:t>Usage Metrics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760720" y="2743200"/>
          <a:ext cx="27432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097280"/>
              </a:tblGrid>
              <a:tr h="3429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</a:defRPr>
                      </a:pPr>
                      <a:r>
                        <a:t>Tests Generated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E7D32"/>
                          </a:solidFill>
                        </a:defRPr>
                      </a:pPr>
                      <a:r>
                        <a:t>[count]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</a:defRPr>
                      </a:pPr>
                      <a:r>
                        <a:t>Active Users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E7D32"/>
                          </a:solidFill>
                        </a:defRPr>
                      </a:pPr>
                      <a:r>
                        <a:t>[users]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</a:defRPr>
                      </a:pPr>
                      <a:r>
                        <a:t>Avg Response Time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E7D32"/>
                          </a:solidFill>
                        </a:defRPr>
                      </a:pPr>
                      <a:r>
                        <a:t>[seconds]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</a:defRPr>
                      </a:pPr>
                      <a:r>
                        <a:t>Success Rate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E7D32"/>
                          </a:solidFill>
                        </a:defRPr>
                      </a:pPr>
                      <a:r>
                        <a:t>[percent]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8686800" y="251460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1">
                <a:solidFill>
                  <a:srgbClr val="2D2D2D"/>
                </a:solidFill>
              </a:defRPr>
            </a:pPr>
            <a:r>
              <a:t>Platform Integration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8686800" y="2743200"/>
          <a:ext cx="292608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731520"/>
              </a:tblGrid>
              <a:tr h="6858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</a:defRPr>
                      </a:pPr>
                      <a:r>
                        <a:t>3DP - Drug Development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READY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</a:defRPr>
                      </a:pPr>
                      <a:r>
                        <a:t>BIKG - Knowledge Graph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READY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760720" y="425196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1">
                <a:solidFill>
                  <a:srgbClr val="2D2D2D"/>
                </a:solidFill>
              </a:defRPr>
            </a:pPr>
            <a:r>
              <a:t>Cost Tracking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760720" y="4480560"/>
          <a:ext cx="274320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097280"/>
              </a:tblGrid>
              <a:tr h="33528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</a:defRPr>
                      </a:pPr>
                      <a:r>
                        <a:t>LLM API (Bedrock)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4A000"/>
                          </a:solidFill>
                        </a:defRPr>
                      </a:pPr>
                      <a:r>
                        <a:t>[$/month]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</a:defRPr>
                      </a:pPr>
                      <a:r>
                        <a:t>Embedding Service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4A000"/>
                          </a:solidFill>
                        </a:defRPr>
                      </a:pPr>
                      <a:r>
                        <a:t>[$/month]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</a:defRPr>
                      </a:pPr>
                      <a:r>
                        <a:t>Infrastructure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4A000"/>
                          </a:solidFill>
                        </a:defRPr>
                      </a:pPr>
                      <a:r>
                        <a:t>[$/month]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8686800" y="425196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1">
                <a:solidFill>
                  <a:srgbClr val="2D2D2D"/>
                </a:solidFill>
              </a:defRPr>
            </a:pPr>
            <a:r>
              <a:t>Model Performance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8686800" y="4480560"/>
          <a:ext cx="292608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280160"/>
              </a:tblGrid>
              <a:tr h="33528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</a:defRPr>
                      </a:pPr>
                      <a:r>
                        <a:t>Test Accuracy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[score]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</a:defRPr>
                      </a:pPr>
                      <a:r>
                        <a:t>Data Validity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[score]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D2D2D"/>
                          </a:solidFill>
                        </a:defRPr>
                      </a:pPr>
                      <a:r>
                        <a:t>User Satisfaction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[score]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5760720" y="5623560"/>
          <a:ext cx="5852160" cy="411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301752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E7D32"/>
                          </a:solidFill>
                        </a:defRPr>
                      </a:pPr>
                      <a:r>
                        <a:t>Budget Status: On Track</a:t>
                      </a:r>
                    </a:p>
                  </a:txBody>
                  <a:tcPr anchor="ctr">
                    <a:solidFill>
                      <a:srgbClr val="FAF9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ROI Tracking: Positive</a:t>
                      </a:r>
                    </a:p>
                  </a:txBody>
                  <a:tcPr anchor="ctr">
                    <a:solidFill>
                      <a:srgbClr val="83005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