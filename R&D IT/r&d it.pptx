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4" r:id="rId5"/>
    <p:sldId id="272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837D-4324-DED2-8D51-57169079E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72AC9-D2C8-417E-A43E-762BD0D95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5797B-000F-F3B1-ED53-FEDA973E3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CC2B-3DAA-5A4A-80D3-7E0E29F2007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377F9-03EF-3C53-607D-47794DCA6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103A2-E3E1-6B97-D7C3-79A6C8F15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9D09C-D14C-DD4A-9504-1714878E2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32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2F69E-DB14-758A-F6AC-D7E216289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D832F-8DDD-C9FC-D637-DC4E6A0A9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EF0F8-E877-4FE4-6456-99A10B20B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CC2B-3DAA-5A4A-80D3-7E0E29F2007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77290-119F-9DBC-BF5E-2CD3192F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62B16-1979-5C91-7738-6D67D0A0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9D09C-D14C-DD4A-9504-1714878E2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0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A809D-444B-5E01-9C4F-1178875C5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CE97C-7BEF-D562-7609-773CC98E2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76936-B03F-E47E-6464-7EAC1705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CC2B-3DAA-5A4A-80D3-7E0E29F2007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55FDB-317A-B80E-3D4F-1D48B3C36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1E995-327F-BA03-A6F4-ECE986C6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9D09C-D14C-DD4A-9504-1714878E2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24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C60C-2A5C-A680-9DF4-79738EC19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9636E-B7CE-AED9-B836-C965C2F24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8939B-1FB1-9328-8CCA-1CB386E3C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97773-2A45-259C-1087-EF593984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CC2B-3DAA-5A4A-80D3-7E0E29F2007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C8023-FE58-4F13-C7F1-39F1B6FC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44813-0AF8-A537-1647-4E3DCCA3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9D09C-D14C-DD4A-9504-1714878E2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62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CFEC9-B186-DCB8-FAC2-A4DAE5541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67048-B6C3-1345-AEA4-0E3C557C5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70205-07AC-57E2-A357-037BCF5B6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42477-98C5-9F93-8ED5-EEFBDF440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E1449-C529-4CBD-477B-432A2D2B5E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10159A-BECE-B19C-0C3B-BC43D776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CC2B-3DAA-5A4A-80D3-7E0E29F2007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5B140A-4BBF-6224-A34E-430B75A2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3CBEDD-BCA4-7CAE-03C5-2F9139F64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9D09C-D14C-DD4A-9504-1714878E2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2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098FB-181D-96AD-7CD9-925DF652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AE3F80-13B6-04BF-9F87-57B5FC2F5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CC2B-3DAA-5A4A-80D3-7E0E29F2007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8298E-00FB-A376-9612-4F48D49B3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96914-3922-4B4E-2A13-2A4D765A2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9D09C-D14C-DD4A-9504-1714878E2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4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7A129-0183-1C1C-E2B1-61E25B8E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CC2B-3DAA-5A4A-80D3-7E0E29F2007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21F83-FDCB-A69E-9785-B31E8B72B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2A1F6-73E2-11F9-420F-C95A27B3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9D09C-D14C-DD4A-9504-1714878E2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76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1F353-E03D-A56A-0BA7-5977920F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F1C4A-5925-6393-F53B-34A6F3C62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2D9BE-36D2-B9A0-009D-761AB69D1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6B3A4-DD36-1DFA-C562-A6D96BC74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CC2B-3DAA-5A4A-80D3-7E0E29F2007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96992-C279-B62F-F166-C8463CE7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82338-148E-388C-8C54-59C120B50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9D09C-D14C-DD4A-9504-1714878E2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37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03C6-042A-1914-4285-E7721AA90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54A2B6-7C34-058B-D564-8BAC8AB5EA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5832F-D2CD-56A8-D97C-281CF390E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485B9-E20B-3ECD-64E6-10B6079EE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CC2B-3DAA-5A4A-80D3-7E0E29F2007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48CFF-8654-1ED4-90AC-371133BF6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EA2415-4253-2B9C-0D96-DD7153FC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9D09C-D14C-DD4A-9504-1714878E2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8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5DACE-659E-29FD-18AF-A1306359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B9A32D-CF68-9AAA-7451-9DE4BD86E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44DCE-C03B-6353-1A59-2DCF086D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CC2B-3DAA-5A4A-80D3-7E0E29F2007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32B36-6819-CAE6-2DC9-75D03AB6B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DF49C-49FD-6155-0E6D-C27C3978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9D09C-D14C-DD4A-9504-1714878E2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53594D-E4EC-5516-93B2-C0A42412A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2D48C-88CD-B76D-5C46-5693F4854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86CB4-D64D-DE27-9240-01FA1B59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CC2B-3DAA-5A4A-80D3-7E0E29F2007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769EF-CAFC-2632-A7BC-DDBBCA789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6DCA3-3E39-4826-BC58-955C1EDA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9D09C-D14C-DD4A-9504-1714878E2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52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4837060-5CDA-1329-4D3A-5F0AF37CC8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59643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6" imgH="416" progId="TCLayout.ActiveDocument.1">
                  <p:embed/>
                </p:oleObj>
              </mc:Choice>
              <mc:Fallback>
                <p:oleObj name="think-cell Slide" r:id="rId3" imgW="416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837060-5CDA-1329-4D3A-5F0AF37CC8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55600"/>
            <a:ext cx="11430000" cy="482600"/>
          </a:xfrm>
          <a:prstGeom prst="rect">
            <a:avLst/>
          </a:prstGeom>
        </p:spPr>
        <p:txBody>
          <a:bodyPr vert="horz"/>
          <a:lstStyle>
            <a:lvl1pPr>
              <a:defRPr sz="3600">
                <a:latin typeface="Graphik" panose="020B0503030202060203" pitchFamily="34" charset="0"/>
                <a:sym typeface="Graphik" panose="020B0503030202060203" pitchFamily="34" charset="0"/>
              </a:defRPr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27EE76A-9DBC-BE71-466D-A3E82F7BFE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2100" y="850901"/>
            <a:ext cx="11430000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000" b="0">
                <a:solidFill>
                  <a:schemeClr val="accent1"/>
                </a:solidFill>
                <a:latin typeface="Graphik" panose="020B0503030202060203" pitchFamily="34" charset="0"/>
                <a:sym typeface="Graphik" panose="020B050303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</p:spTree>
    <p:extLst>
      <p:ext uri="{BB962C8B-B14F-4D97-AF65-F5344CB8AC3E}">
        <p14:creationId xmlns:p14="http://schemas.microsoft.com/office/powerpoint/2010/main" val="3702651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 b="0" i="0">
                <a:latin typeface="Noto IKEA Latin" panose="020B0502040504020204" pitchFamily="34" charset="0"/>
              </a:defRPr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>
            <a:lvl1pPr>
              <a:defRPr b="0" i="0">
                <a:latin typeface="Noto IKEA Latin" panose="020B0502040504020204" pitchFamily="34" charset="0"/>
              </a:defRPr>
            </a:lvl1pPr>
            <a:lvl2pPr>
              <a:defRPr b="0" i="0">
                <a:latin typeface="Noto IKEA Latin" panose="020B0502040504020204" pitchFamily="34" charset="0"/>
              </a:defRPr>
            </a:lvl2pPr>
            <a:lvl3pPr>
              <a:defRPr b="0" i="0">
                <a:latin typeface="Noto IKEA Latin" panose="020B0502040504020204" pitchFamily="34" charset="0"/>
              </a:defRPr>
            </a:lvl3pPr>
            <a:lvl4pPr>
              <a:defRPr b="0" i="0">
                <a:latin typeface="Noto IKEA Latin" panose="020B0502040504020204" pitchFamily="34" charset="0"/>
              </a:defRPr>
            </a:lvl4pPr>
            <a:lvl5pPr>
              <a:defRPr b="0" i="0">
                <a:latin typeface="Noto IKEA Latin" panose="020B0502040504020204" pitchFamily="34" charset="0"/>
              </a:defRPr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7D8D5ABF-9053-4BEC-22F1-6DE14D9508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477000"/>
            <a:ext cx="1067306" cy="28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7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05013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6" imgH="396" progId="TCLayout.ActiveDocument.1">
                  <p:embed/>
                </p:oleObj>
              </mc:Choice>
              <mc:Fallback>
                <p:oleObj name="think-cell Slide" r:id="rId3" imgW="396" imgH="39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337344" y="1809524"/>
            <a:ext cx="11520000" cy="46799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85750" indent="-285750">
              <a:buFont typeface="Wingdings" panose="05000000000000000000" pitchFamily="2" charset="2"/>
              <a:buChar char="§"/>
              <a:defRPr/>
            </a:lvl1pPr>
            <a:lvl3pPr marL="846000" indent="-284400">
              <a:buFont typeface="Wingdings" panose="05000000000000000000" pitchFamily="2" charset="2"/>
              <a:buChar char="§"/>
              <a:defRPr baseline="0"/>
            </a:lvl3pPr>
            <a:lvl4pPr marL="1130400">
              <a:defRPr/>
            </a:lvl4pPr>
            <a:lvl5pPr marL="1414800" indent="-284400">
              <a:buFont typeface="Wingdings" panose="05000000000000000000" pitchFamily="2" charset="2"/>
              <a:buChar char="§"/>
              <a:defRPr/>
            </a:lvl5pPr>
            <a:lvl6pPr marL="1699200" indent="-284400">
              <a:buFont typeface="Symbol" panose="05050102010706020507" pitchFamily="18" charset="2"/>
              <a:buChar char="-"/>
              <a:defRPr/>
            </a:lvl6pPr>
            <a:lvl7pPr marL="1983600" indent="-284400">
              <a:buFont typeface="Wingdings" panose="05000000000000000000" pitchFamily="2" charset="2"/>
              <a:buChar char="§"/>
              <a:defRPr>
                <a:latin typeface="Graphik" panose="020B0503030202060203" pitchFamily="34" charset="0"/>
              </a:defRPr>
            </a:lvl7pPr>
            <a:lvl8pPr marL="2268000" indent="-285750">
              <a:buFont typeface="Symbol" panose="05050102010706020507" pitchFamily="18" charset="2"/>
              <a:buChar char="-"/>
              <a:defRPr/>
            </a:lvl8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11315665" y="6534943"/>
            <a:ext cx="360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1477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sz="900" b="0">
                <a:solidFill>
                  <a:srgbClr val="999999"/>
                </a:solidFill>
                <a:latin typeface="Arial" pitchFamily="34" charset="0"/>
                <a:cs typeface="Arial" pitchFamily="34" charset="0"/>
              </a:defRPr>
            </a:lvl1pPr>
            <a:lvl2pPr marL="562719" indent="-285267" defTabSz="1125437">
              <a:lnSpc>
                <a:spcPct val="100000"/>
              </a:lnSpc>
              <a:spcBef>
                <a:spcPts val="768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Char char="–"/>
              <a:defRPr sz="1723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2pPr>
            <a:lvl3pPr marL="847986" indent="-285267" defTabSz="1125437">
              <a:lnSpc>
                <a:spcPct val="100000"/>
              </a:lnSpc>
              <a:spcBef>
                <a:spcPts val="709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Char char="•"/>
              <a:defRPr sz="1723" baseline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3pPr>
            <a:lvl4pPr marL="1125437" indent="-277452" defTabSz="1125437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Char char="–"/>
              <a:defRPr sz="1723" baseline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4pPr>
            <a:lvl5pPr marL="1410704" indent="-285267" defTabSz="1125437">
              <a:lnSpc>
                <a:spcPct val="100000"/>
              </a:lnSpc>
              <a:spcBef>
                <a:spcPts val="591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Char char="•"/>
              <a:defRPr sz="1723" baseline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5pPr>
            <a:lvl6pPr marL="3094951" indent="-281358" defTabSz="1125437">
              <a:spcBef>
                <a:spcPct val="20000"/>
              </a:spcBef>
              <a:buFont typeface="Arial" pitchFamily="34" charset="0"/>
              <a:buChar char="•"/>
              <a:defRPr sz="2462"/>
            </a:lvl6pPr>
            <a:lvl7pPr marL="3657671" indent="-281358" defTabSz="1125437">
              <a:spcBef>
                <a:spcPct val="20000"/>
              </a:spcBef>
              <a:buFont typeface="Arial" pitchFamily="34" charset="0"/>
              <a:buChar char="•"/>
              <a:defRPr sz="2462"/>
            </a:lvl7pPr>
            <a:lvl8pPr marL="4220389" indent="-281358" defTabSz="1125437">
              <a:spcBef>
                <a:spcPct val="20000"/>
              </a:spcBef>
              <a:buFont typeface="Arial" pitchFamily="34" charset="0"/>
              <a:buChar char="•"/>
              <a:defRPr sz="2462"/>
            </a:lvl8pPr>
            <a:lvl9pPr marL="4783107" indent="-281358" defTabSz="1125437">
              <a:spcBef>
                <a:spcPct val="20000"/>
              </a:spcBef>
              <a:buFont typeface="Arial" pitchFamily="34" charset="0"/>
              <a:buChar char="•"/>
              <a:defRPr sz="2462"/>
            </a:lvl9pPr>
          </a:lstStyle>
          <a:p>
            <a:pPr lvl="0" algn="r"/>
            <a:fld id="{597A8DCA-8F96-49CD-B4D5-7AC92F955860}" type="slidenum">
              <a:rPr lang="en-US" sz="1000" smtClean="0">
                <a:latin typeface="+mn-lt"/>
              </a:rPr>
              <a:pPr lvl="0" algn="r"/>
              <a:t>‹#›</a:t>
            </a:fld>
            <a:endParaRPr lang="en-US" sz="1000">
              <a:latin typeface="+mn-lt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335360" y="-222232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 userDrawn="1"/>
        </p:nvSpPr>
        <p:spPr>
          <a:xfrm>
            <a:off x="335360" y="-222232"/>
            <a:ext cx="1827269" cy="144000"/>
          </a:xfrm>
          <a:prstGeom prst="rect">
            <a:avLst/>
          </a:prstGeom>
          <a:noFill/>
        </p:spPr>
        <p:txBody>
          <a:bodyPr wrap="square" lIns="88615" tIns="0" rIns="0" bIns="0" rtlCol="0" anchor="ctr">
            <a:noAutofit/>
          </a:bodyPr>
          <a:lstStyle/>
          <a:p>
            <a:r>
              <a:rPr lang="en-US" sz="1000">
                <a:latin typeface="+mn-lt"/>
              </a:rPr>
              <a:t>Begin Content</a:t>
            </a:r>
            <a:r>
              <a:rPr lang="en-US" sz="1000" baseline="0">
                <a:latin typeface="+mn-lt"/>
              </a:rPr>
              <a:t> </a:t>
            </a:r>
            <a:r>
              <a:rPr lang="en-US" sz="1000">
                <a:latin typeface="+mn-lt"/>
              </a:rPr>
              <a:t>Area = 16,00</a:t>
            </a:r>
          </a:p>
        </p:txBody>
      </p:sp>
      <p:cxnSp>
        <p:nvCxnSpPr>
          <p:cNvPr id="36" name="Straight Connector 35"/>
          <p:cNvCxnSpPr/>
          <p:nvPr userDrawn="1"/>
        </p:nvCxnSpPr>
        <p:spPr>
          <a:xfrm>
            <a:off x="11856640" y="-222232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 userDrawn="1"/>
        </p:nvSpPr>
        <p:spPr>
          <a:xfrm>
            <a:off x="10029371" y="-222232"/>
            <a:ext cx="1827269" cy="144000"/>
          </a:xfrm>
          <a:prstGeom prst="rect">
            <a:avLst/>
          </a:prstGeom>
          <a:noFill/>
        </p:spPr>
        <p:txBody>
          <a:bodyPr wrap="square" lIns="0" tIns="0" rIns="88615" bIns="0" rtlCol="0" anchor="ctr">
            <a:noAutofit/>
          </a:bodyPr>
          <a:lstStyle/>
          <a:p>
            <a:pPr algn="r"/>
            <a:r>
              <a:rPr lang="en-US" sz="1000">
                <a:latin typeface="+mn-lt"/>
              </a:rPr>
              <a:t>End Content Area = 16,00</a:t>
            </a: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6092795" y="-402232"/>
            <a:ext cx="0" cy="36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 userDrawn="1"/>
        </p:nvSpPr>
        <p:spPr>
          <a:xfrm>
            <a:off x="6092795" y="-402232"/>
            <a:ext cx="1827269" cy="144000"/>
          </a:xfrm>
          <a:prstGeom prst="rect">
            <a:avLst/>
          </a:prstGeom>
          <a:noFill/>
        </p:spPr>
        <p:txBody>
          <a:bodyPr wrap="square" lIns="88615" tIns="0" rIns="0" bIns="0" rtlCol="0" anchor="ctr">
            <a:noAutofit/>
          </a:bodyPr>
          <a:lstStyle/>
          <a:p>
            <a:r>
              <a:rPr lang="en-US" sz="1000">
                <a:latin typeface="+mn-lt"/>
              </a:rPr>
              <a:t>Center Type Area = 0,00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5918361" y="-222232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 userDrawn="1"/>
        </p:nvSpPr>
        <p:spPr>
          <a:xfrm>
            <a:off x="4091092" y="-222232"/>
            <a:ext cx="1827269" cy="144000"/>
          </a:xfrm>
          <a:prstGeom prst="rect">
            <a:avLst/>
          </a:prstGeom>
          <a:noFill/>
        </p:spPr>
        <p:txBody>
          <a:bodyPr wrap="square" lIns="0" tIns="0" rIns="88615" bIns="0" rtlCol="0" anchor="ctr">
            <a:noAutofit/>
          </a:bodyPr>
          <a:lstStyle/>
          <a:p>
            <a:pPr algn="r"/>
            <a:r>
              <a:rPr lang="en-US" sz="1000">
                <a:latin typeface="+mn-lt"/>
              </a:rPr>
              <a:t>Left Spacing = 0,50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6276020" y="-222232"/>
            <a:ext cx="1827269" cy="144000"/>
          </a:xfrm>
          <a:prstGeom prst="rect">
            <a:avLst/>
          </a:prstGeom>
          <a:noFill/>
        </p:spPr>
        <p:txBody>
          <a:bodyPr wrap="square" lIns="88615" tIns="0" rIns="0" bIns="0" rtlCol="0" anchor="ctr">
            <a:noAutofit/>
          </a:bodyPr>
          <a:lstStyle/>
          <a:p>
            <a:r>
              <a:rPr lang="en-US" sz="1000">
                <a:latin typeface="+mn-lt"/>
              </a:rPr>
              <a:t>Right Spacing = 0,50</a:t>
            </a:r>
          </a:p>
        </p:txBody>
      </p:sp>
      <p:cxnSp>
        <p:nvCxnSpPr>
          <p:cNvPr id="43" name="Straight Connector 42"/>
          <p:cNvCxnSpPr/>
          <p:nvPr userDrawn="1"/>
        </p:nvCxnSpPr>
        <p:spPr>
          <a:xfrm>
            <a:off x="6276020" y="-222232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323057"/>
            <a:ext cx="11520000" cy="3238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200" cap="all" spc="-200" baseline="0">
                <a:solidFill>
                  <a:srgbClr val="FF0000"/>
                </a:solidFill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</a:t>
            </a:r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30F798-027C-440D-B7E9-A619FA796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322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391">
          <p15:clr>
            <a:srgbClr val="FBAE40"/>
          </p15:clr>
        </p15:guide>
        <p15:guide id="1" pos="211">
          <p15:clr>
            <a:srgbClr val="FBAE40"/>
          </p15:clr>
        </p15:guide>
        <p15:guide id="2" pos="7469">
          <p15:clr>
            <a:srgbClr val="FBAE40"/>
          </p15:clr>
        </p15:guide>
        <p15:guide id="3" orient="horz" pos="4224">
          <p15:clr>
            <a:srgbClr val="FBAE40"/>
          </p15:clr>
        </p15:guide>
        <p15:guide id="4" pos="3840">
          <p15:clr>
            <a:srgbClr val="FBAE40"/>
          </p15:clr>
        </p15:guide>
        <p15:guide id="5" pos="3727">
          <p15:clr>
            <a:srgbClr val="FBAE40"/>
          </p15:clr>
        </p15:guide>
        <p15:guide id="6" pos="3953">
          <p15:clr>
            <a:srgbClr val="FBAE40"/>
          </p15:clr>
        </p15:guide>
        <p15:guide id="7" orient="horz" pos="1139">
          <p15:clr>
            <a:srgbClr val="FBAE40"/>
          </p15:clr>
        </p15:guide>
        <p15:guide id="8" orient="horz" pos="4088">
          <p15:clr>
            <a:srgbClr val="FBAE40"/>
          </p15:clr>
        </p15:guide>
        <p15:guide id="9" orient="horz" pos="651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89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right-click and choose ‘Keep text only’.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3021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right-click and choose ‘Keep text only’.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180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5C33CE-25A6-2399-AAAA-68DF0131E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F1822-D5ED-BFB3-459F-8DB7BE2A2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4D417-844E-263E-2AB4-066D3A5FC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7FCC2B-3DAA-5A4A-80D3-7E0E29F2007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F93EE-09A8-64E6-C54D-BE1008CCD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FAE93-C62E-835E-76E2-8DAF72F23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9D09C-D14C-DD4A-9504-1714878E2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02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2EBB1-285A-4A84-5F13-097E402A51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60735-FB0A-1DDA-B3C2-AF6CDFD1A9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58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EA55E-5464-0D7E-E183-94000711E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Example of Monitoring and Benefits Dashboard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767D9-03E0-EAB7-111E-CAF90D87B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Use an example for one of our four agents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9B058E-6D99-F9B1-F97F-38D94FE45FA0}"/>
              </a:ext>
            </a:extLst>
          </p:cNvPr>
          <p:cNvSpPr/>
          <p:nvPr/>
        </p:nvSpPr>
        <p:spPr>
          <a:xfrm>
            <a:off x="-2703155" y="1145052"/>
            <a:ext cx="2842352" cy="194998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GB"/>
              <a:t>Devesh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33DC1A-6D60-7F92-B6C7-60FD5B0CB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21" y="1188248"/>
            <a:ext cx="10560205" cy="491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329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E8B372-F22B-D13C-2151-55A59FB52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25" y="736270"/>
            <a:ext cx="10798653" cy="504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76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F4D52D4-C6E4-04E3-B85A-D487F391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0E1915-32C3-6F1A-3BDC-0709A65C1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70" y="1371601"/>
            <a:ext cx="9686861" cy="49403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19593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7882A9-4A0D-BB6D-EDEE-64AC5ADCE174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265079" y="876609"/>
            <a:ext cx="9065184" cy="5477559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AC75649-64F7-2EC6-754C-F5FA051A4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82" y="2834"/>
            <a:ext cx="10972800" cy="914401"/>
          </a:xfrm>
        </p:spPr>
        <p:txBody>
          <a:bodyPr anchor="t">
            <a:normAutofit fontScale="90000"/>
          </a:bodyPr>
          <a:lstStyle/>
          <a:p>
            <a:r>
              <a:rPr lang="en-GB" sz="3300"/>
              <a:t>Scalable, Agent Mesh, future proof architecture for AZ’s R&amp;D Agentic ambition</a:t>
            </a:r>
          </a:p>
          <a:p>
            <a:endParaRPr lang="en-GB" sz="3300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096C29FB-0BE2-FFA6-AE2F-A5548BBF87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44085"/>
            <a:ext cx="487680" cy="30914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F8E47D07-9D1E-4FE9-B31A-2F5863681021}" type="slidenum">
              <a:rPr lang="en-GB" smtClean="0"/>
              <a:pPr>
                <a:spcAft>
                  <a:spcPts val="600"/>
                </a:spcAft>
              </a:pPr>
              <a:t>5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973C5D-02F3-01B5-0CD9-58807334394E}"/>
              </a:ext>
            </a:extLst>
          </p:cNvPr>
          <p:cNvSpPr txBox="1"/>
          <p:nvPr/>
        </p:nvSpPr>
        <p:spPr>
          <a:xfrm>
            <a:off x="9588000" y="918000"/>
            <a:ext cx="2628000" cy="37471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fontAlgn="t">
              <a:lnSpc>
                <a:spcPts val="1500"/>
              </a:lnSpc>
              <a:buFont typeface="+mj-lt"/>
              <a:buAutoNum type="arabicPeriod"/>
              <a:defRPr/>
            </a:pPr>
            <a:r>
              <a:rPr lang="en-GB" sz="1050" b="1">
                <a:solidFill>
                  <a:srgbClr val="701B34"/>
                </a:solidFill>
                <a:latin typeface="Calibri"/>
              </a:rPr>
              <a:t>These four agents collectively form a modular R&amp;D intelligence fabric — enabling knowledge retrieval, experiment validation, data reasoning, and governed orchestration — all operating within a secure, federated Agent Mesh architecture aligned to AZ’s Enterprise Agentic AI blueprint.</a:t>
            </a:r>
            <a:endParaRPr lang="en-US" sz="1050" b="1">
              <a:solidFill>
                <a:srgbClr val="701B34"/>
              </a:solidFill>
              <a:latin typeface="Calibri"/>
            </a:endParaRPr>
          </a:p>
          <a:p>
            <a:pPr marL="228600" indent="-228600">
              <a:lnSpc>
                <a:spcPts val="1500"/>
              </a:lnSpc>
              <a:buAutoNum type="arabicPeriod"/>
              <a:defRPr/>
            </a:pPr>
            <a:endParaRPr lang="en-GB" sz="1050" b="1">
              <a:solidFill>
                <a:srgbClr val="701B34"/>
              </a:solidFill>
              <a:latin typeface="Calibri"/>
            </a:endParaRPr>
          </a:p>
          <a:p>
            <a:pPr marL="228600" indent="-228600">
              <a:lnSpc>
                <a:spcPts val="1500"/>
              </a:lnSpc>
              <a:buFontTx/>
              <a:buAutoNum type="arabicPeriod"/>
              <a:defRPr/>
            </a:pPr>
            <a:endParaRPr lang="en-GB" sz="1050" b="1">
              <a:solidFill>
                <a:srgbClr val="701B34"/>
              </a:solidFill>
              <a:latin typeface="Calibri"/>
            </a:endParaRPr>
          </a:p>
          <a:p>
            <a:pPr marL="228600" indent="-228600">
              <a:lnSpc>
                <a:spcPts val="1500"/>
              </a:lnSpc>
              <a:buFontTx/>
              <a:buAutoNum type="arabicPeriod"/>
              <a:defRPr/>
            </a:pPr>
            <a:endParaRPr lang="en-GB" sz="1050" b="1">
              <a:solidFill>
                <a:srgbClr val="701B34"/>
              </a:solidFill>
              <a:latin typeface="Calibri"/>
            </a:endParaRPr>
          </a:p>
          <a:p>
            <a:pPr marL="228600" indent="-228600" fontAlgn="t">
              <a:lnSpc>
                <a:spcPts val="1500"/>
              </a:lnSpc>
              <a:buFont typeface="+mj-lt"/>
              <a:buAutoNum type="arabicPeriod"/>
              <a:defRPr/>
            </a:pPr>
            <a:r>
              <a:rPr lang="en-GB" sz="1050" b="1">
                <a:solidFill>
                  <a:srgbClr val="701B34"/>
                </a:solidFill>
                <a:latin typeface="Calibri"/>
              </a:rPr>
              <a:t>To accelerate implementation, we will leverage AI-assisted engineering (Claude Code) to generate validated scaffolding, typed contracts, test harnesses, and infrastructure templates — while maintaining full human governance, security review, and CI/CD controls</a:t>
            </a:r>
          </a:p>
        </p:txBody>
      </p:sp>
    </p:spTree>
    <p:extLst>
      <p:ext uri="{BB962C8B-B14F-4D97-AF65-F5344CB8AC3E}">
        <p14:creationId xmlns:p14="http://schemas.microsoft.com/office/powerpoint/2010/main" val="1482372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661102-19DC-AF5E-FDB7-1D6DC54E76F2}"/>
              </a:ext>
            </a:extLst>
          </p:cNvPr>
          <p:cNvPicPr>
            <a:picLocks noGrp="1" noChangeAspect="1"/>
          </p:cNvPicPr>
          <p:nvPr>
            <p:ph sz="quarter" idx="112"/>
          </p:nvPr>
        </p:nvPicPr>
        <p:blipFill>
          <a:blip r:embed="rId2"/>
          <a:stretch>
            <a:fillRect/>
          </a:stretch>
        </p:blipFill>
        <p:spPr>
          <a:xfrm>
            <a:off x="120650" y="366524"/>
            <a:ext cx="11463338" cy="5588377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FB153B88-0A82-8C29-93E3-B98002FB76C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F8E47D07-9D1E-4FE9-B31A-2F5863681021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403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796AFB-EB07-4EFB-33EC-7FC5396C7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" y="595793"/>
            <a:ext cx="11463338" cy="51298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45444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Macintosh PowerPoint</Application>
  <PresentationFormat>Widescreen</PresentationFormat>
  <Paragraphs>11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Graphik</vt:lpstr>
      <vt:lpstr>Noto IKEA Latin</vt:lpstr>
      <vt:lpstr>Symbol</vt:lpstr>
      <vt:lpstr>Wingdings</vt:lpstr>
      <vt:lpstr>Office Theme</vt:lpstr>
      <vt:lpstr>think-cell Slide</vt:lpstr>
      <vt:lpstr>PowerPoint Presentation</vt:lpstr>
      <vt:lpstr>Example of Monitoring and Benefits Dashboard </vt:lpstr>
      <vt:lpstr>PowerPoint Presentation</vt:lpstr>
      <vt:lpstr>PowerPoint Presentation</vt:lpstr>
      <vt:lpstr>Scalable, Agent Mesh, future proof architecture for AZ’s R&amp;D Agentic ambition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Sharma, Devesh B.</dc:creator>
  <cp:lastModifiedBy>Sharma, Devesh B.</cp:lastModifiedBy>
  <cp:revision>1</cp:revision>
  <dcterms:created xsi:type="dcterms:W3CDTF">2026-02-19T10:28:15Z</dcterms:created>
  <dcterms:modified xsi:type="dcterms:W3CDTF">2026-02-19T10:28:38Z</dcterms:modified>
</cp:coreProperties>
</file>