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</a:defRPr>
            </a:pPr>
            <a:r>
              <a:t>Agentic Data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1">
                <a:solidFill>
                  <a:srgbClr val="FFCCDD"/>
                </a:solidFill>
              </a:defRPr>
            </a:pPr>
            <a:r>
              <a:t>Transforming Data Operations for the Future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3657600" cy="36576"/>
          </a:xfrm>
          <a:prstGeom prst="rect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Data Strategy Office | AstraZeneca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FFCCDD"/>
                </a:solidFill>
              </a:defRPr>
            </a:pPr>
            <a:r>
              <a:t>Autonomous AI agents that discover, trace, monitor,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FFCCDD"/>
                </a:solidFill>
              </a:defRPr>
            </a:pPr>
            <a:r>
              <a:t>diagnose, suggest, and fix data issues — with humans in the loop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</a:defRPr>
            </a:pPr>
            <a:r>
              <a:t>From reactive, manual data management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</a:defRPr>
            </a:pPr>
            <a:r>
              <a:t>to proactive, self-healing data operations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FFCCDD"/>
                </a:solidFill>
              </a:defRPr>
            </a:pPr>
            <a:r>
              <a:t>MDM  |  Data Governance  |  Data Quality  |  Data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2011680" cy="50292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309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Autonomy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5303520"/>
            <a:ext cx="2011680" cy="502920"/>
          </a:xfrm>
          <a:prstGeom prst="round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53309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Goal-Driven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5303520"/>
            <a:ext cx="2011680" cy="50292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53309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Collaboration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5303520"/>
            <a:ext cx="2011680" cy="50292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53309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Continuous Learning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5303520"/>
            <a:ext cx="201168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53309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Embedded Guardrails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5A0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172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4A000"/>
                </a:solidFill>
              </a:defRPr>
            </a:pPr>
            <a:r>
              <a:t>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172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FFCCDD"/>
                </a:solidFill>
              </a:defRPr>
            </a:pPr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Agentic Data Management Maturity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</a:defRPr>
            </a:pPr>
            <a:r>
              <a:t>Where is AstraZeneca today — and where should we go?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280160"/>
            <a:ext cx="2240280" cy="438912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" y="1280160"/>
            <a:ext cx="2240280" cy="822960"/>
          </a:xfrm>
          <a:prstGeom prst="roundRect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98448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FFFFFF"/>
                </a:solidFill>
              </a:defRPr>
            </a:pPr>
            <a:r>
              <a:t>Level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0876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</a:defRPr>
            </a:pPr>
            <a:r>
              <a:t>MANUAL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830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1">
                <a:solidFill>
                  <a:srgbClr val="FFCCDD"/>
                </a:solidFill>
              </a:defRPr>
            </a:pPr>
            <a:r>
              <a:t>Entirely human-driven</a:t>
            </a:r>
            <a:br/>
            <a:r>
              <a:t>data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2402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Manual data entry &amp; cleansing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926468162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Spreadsheet-based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5852913922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No automation of 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8779359682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Tribal knowledge dependency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011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B0B0B0"/>
                </a:solidFill>
              </a:defRPr>
            </a:pPr>
            <a: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1280160"/>
            <a:ext cx="2240280" cy="438912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560320" y="1280160"/>
            <a:ext cx="2240280" cy="8229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0" y="1298448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FFFFFF"/>
                </a:solidFill>
              </a:defRPr>
            </a:pPr>
            <a:r>
              <a:t>Level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150876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</a:defRPr>
            </a:pPr>
            <a:r>
              <a:t>TOOL-ASSISTED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17830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1">
                <a:solidFill>
                  <a:srgbClr val="FFCCDD"/>
                </a:solidFill>
              </a:defRPr>
            </a:pPr>
            <a:r>
              <a:t>Tools support humans</a:t>
            </a:r>
            <a:br/>
            <a:r>
              <a:t>but humans drive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22402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ETL tools automate movement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2926468162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Basic profiling &amp; rule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5852913922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Cataloging in structured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8779359682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Human-initiated, tool-aided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011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9800"/>
                </a:solidFill>
              </a:defRPr>
            </a:pPr>
            <a: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0" y="1280160"/>
            <a:ext cx="2240280" cy="438912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937760" y="1280160"/>
            <a:ext cx="2240280" cy="82296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1298448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FFFFFF"/>
                </a:solidFill>
              </a:defRPr>
            </a:pPr>
            <a:r>
              <a:t>Level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150876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</a:defRPr>
            </a:pPr>
            <a:r>
              <a:t>AUGMENTED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17830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1">
                <a:solidFill>
                  <a:srgbClr val="FFCCDD"/>
                </a:solidFill>
              </a:defRPr>
            </a:pPr>
            <a:r>
              <a:t>AI augments humans</a:t>
            </a:r>
            <a:br/>
            <a:r>
              <a:t>with recommendations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22402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ML-based matching suggestions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2926468162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AI-powered anomaly 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5852913922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Predictive quality scoring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8779359682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Human approves AI suggestions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2011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1E88E5"/>
                </a:solidFill>
              </a:defRPr>
            </a:pPr>
            <a:r>
              <a:t>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0" y="1280160"/>
            <a:ext cx="2240280" cy="438912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15200" y="1280160"/>
            <a:ext cx="2240280" cy="82296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6640" y="1298448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FFFFFF"/>
                </a:solidFill>
              </a:defRPr>
            </a:pPr>
            <a:r>
              <a:t>Level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150876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</a:defRPr>
            </a:pPr>
            <a:r>
              <a:t>INTELLIGENT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17830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1">
                <a:solidFill>
                  <a:srgbClr val="FFCCDD"/>
                </a:solidFill>
              </a:defRPr>
            </a:pPr>
            <a:r>
              <a:t>AI handles routine decisions</a:t>
            </a:r>
            <a:br/>
            <a:r>
              <a:t>humans handle exceptions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22402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Auto-resolution of low-risk issues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2926468162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Proactive quality monitoring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0" y="5852913922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AI-driven governance workflows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8779359682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Human oversight on escalations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600" y="2011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4A148C"/>
                </a:solidFill>
              </a:defRPr>
            </a:pPr>
            <a:r>
              <a:t>▶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92640" y="1280160"/>
            <a:ext cx="2240280" cy="4389120"/>
          </a:xfrm>
          <a:prstGeom prst="roundRect">
            <a:avLst/>
          </a:prstGeom>
          <a:solidFill>
            <a:srgbClr val="F8E0EB"/>
          </a:solidFill>
          <a:ln w="254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692640" y="1280160"/>
            <a:ext cx="2240280" cy="822960"/>
          </a:xfrm>
          <a:prstGeom prst="round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84080" y="1298448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FFFFFF"/>
                </a:solidFill>
              </a:defRPr>
            </a:pPr>
            <a:r>
              <a:t>Level 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150876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</a:defRPr>
            </a:pPr>
            <a:r>
              <a:t>AGENTIC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0" y="17830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1">
                <a:solidFill>
                  <a:srgbClr val="FFCCDD"/>
                </a:solidFill>
              </a:defRPr>
            </a:pPr>
            <a:r>
              <a:t>Autonomous agents pursue</a:t>
            </a:r>
            <a:br/>
            <a:r>
              <a:t>goals with human oversight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84080" y="22402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Self-healing data pipelines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2926468162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Autonomous goal-driven agents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84080" y="5852913922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Continuous learning &amp; adaptation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84080" y="8779359682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Human-in-the-loop for strategy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468880" y="3611880"/>
            <a:ext cx="4846320" cy="457200"/>
          </a:xfrm>
          <a:prstGeom prst="roundRect">
            <a:avLst/>
          </a:prstGeom>
          <a:noFill/>
          <a:ln w="254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06040" y="36393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30051"/>
                </a:solidFill>
              </a:rPr>
              <a:t>AZ TODAY: </a:t>
            </a:r>
            <a:r>
              <a:rPr sz="900" b="0" i="0">
                <a:solidFill>
                  <a:srgbClr val="2D2D2D"/>
                </a:solidFill>
              </a:rPr>
              <a:t>Most domains at Level 2-3. Some pockets of Level 4. </a:t>
            </a:r>
            <a:r>
              <a:rPr sz="1000" b="1" i="0">
                <a:solidFill>
                  <a:srgbClr val="2E7D32"/>
                </a:solidFill>
              </a:rPr>
              <a:t>NORTH STAR: </a:t>
            </a:r>
            <a:r>
              <a:rPr sz="900" b="0" i="0">
                <a:solidFill>
                  <a:srgbClr val="2D2D2D"/>
                </a:solidFill>
              </a:rPr>
              <a:t>Level 5 Agentic across MDM, Governance &amp; Quality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5897880"/>
            <a:ext cx="12191695" cy="27432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6035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555555"/>
                </a:solidFill>
              </a:defRPr>
            </a:pPr>
            <a:r>
              <a:t>INDUSTRY CONTEXT:  Most pharma companies are at Level 2-3.  Eli Lilly and Novartis have reached Level 3-4 in select domains.  Level 5 (fully Agentic) is the emerging frontier — first movers gain competitive advantage in data-driven drug development.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The 6-Phase Agentic Data Management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555555"/>
                </a:solidFill>
              </a:defRPr>
            </a:pPr>
            <a:r>
              <a:t>Traditional human-led approach vs. Agentic AI with human-in-the-loop — across each lifecycle phase</a:t>
            </a:r>
          </a:p>
        </p:txBody>
      </p:sp>
      <p:sp>
        <p:nvSpPr>
          <p:cNvPr id="5" name="Chevron 4"/>
          <p:cNvSpPr/>
          <p:nvPr/>
        </p:nvSpPr>
        <p:spPr>
          <a:xfrm>
            <a:off x="182880" y="1280160"/>
            <a:ext cx="1874519" cy="548640"/>
          </a:xfrm>
          <a:prstGeom prst="chevron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DISCOVER</a:t>
            </a:r>
          </a:p>
        </p:txBody>
      </p:sp>
      <p:sp>
        <p:nvSpPr>
          <p:cNvPr id="7" name="Chevron 6"/>
          <p:cNvSpPr/>
          <p:nvPr/>
        </p:nvSpPr>
        <p:spPr>
          <a:xfrm>
            <a:off x="2148840" y="1280160"/>
            <a:ext cx="1874519" cy="548640"/>
          </a:xfrm>
          <a:prstGeom prst="chevron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29844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TRACE</a:t>
            </a:r>
          </a:p>
        </p:txBody>
      </p:sp>
      <p:sp>
        <p:nvSpPr>
          <p:cNvPr id="9" name="Chevron 8"/>
          <p:cNvSpPr/>
          <p:nvPr/>
        </p:nvSpPr>
        <p:spPr>
          <a:xfrm>
            <a:off x="4114800" y="1280160"/>
            <a:ext cx="1874519" cy="548640"/>
          </a:xfrm>
          <a:prstGeom prst="chevron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29844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MONITOR</a:t>
            </a:r>
          </a:p>
        </p:txBody>
      </p:sp>
      <p:sp>
        <p:nvSpPr>
          <p:cNvPr id="11" name="Chevron 10"/>
          <p:cNvSpPr/>
          <p:nvPr/>
        </p:nvSpPr>
        <p:spPr>
          <a:xfrm>
            <a:off x="6080759" y="1280160"/>
            <a:ext cx="1874519" cy="548640"/>
          </a:xfrm>
          <a:prstGeom prst="chevron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799" y="129844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DIAGNOSE</a:t>
            </a:r>
          </a:p>
        </p:txBody>
      </p:sp>
      <p:sp>
        <p:nvSpPr>
          <p:cNvPr id="13" name="Chevron 12"/>
          <p:cNvSpPr/>
          <p:nvPr/>
        </p:nvSpPr>
        <p:spPr>
          <a:xfrm>
            <a:off x="8046719" y="1280160"/>
            <a:ext cx="1874519" cy="548640"/>
          </a:xfrm>
          <a:prstGeom prst="chevron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9" y="129844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SUGGEST</a:t>
            </a:r>
          </a:p>
        </p:txBody>
      </p:sp>
      <p:sp>
        <p:nvSpPr>
          <p:cNvPr id="15" name="Chevron 14"/>
          <p:cNvSpPr/>
          <p:nvPr/>
        </p:nvSpPr>
        <p:spPr>
          <a:xfrm>
            <a:off x="10012680" y="1280160"/>
            <a:ext cx="1874519" cy="548640"/>
          </a:xfrm>
          <a:prstGeom prst="chevron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0" y="129844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FIX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" y="2011680"/>
            <a:ext cx="1554480" cy="13258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22860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TRADITIONAL</a:t>
            </a:r>
            <a:br/>
            <a:r>
              <a:t>HUMAN-LED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" y="3520440"/>
            <a:ext cx="1554480" cy="13258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" y="37947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AGENTIC</a:t>
            </a:r>
            <a:br/>
            <a:r>
              <a:t>AI-DRIVEN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74519" y="2011680"/>
            <a:ext cx="1600200" cy="132588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47671" y="2103120"/>
            <a:ext cx="1463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Manual metadata</a:t>
            </a:r>
            <a:br/>
            <a:r>
              <a:t>collection via</a:t>
            </a:r>
            <a:br/>
            <a:r>
              <a:t>interviews and</a:t>
            </a:r>
            <a:br/>
            <a:r>
              <a:t>documentation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74519" y="3520440"/>
            <a:ext cx="1600200" cy="13258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47671" y="3611880"/>
            <a:ext cx="1463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AI agents auto-discover</a:t>
            </a:r>
            <a:br/>
            <a:r>
              <a:t>metadata, schemas,</a:t>
            </a:r>
            <a:br/>
            <a:r>
              <a:t>relationships across</a:t>
            </a:r>
            <a:br/>
            <a:r>
              <a:t>all platforms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11879" y="2011680"/>
            <a:ext cx="1600200" cy="132588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85031" y="2103120"/>
            <a:ext cx="1463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Lineage documented</a:t>
            </a:r>
            <a:br/>
            <a:r>
              <a:t>manually in</a:t>
            </a:r>
            <a:br/>
            <a:r>
              <a:t>spreadsheets</a:t>
            </a:r>
            <a:br/>
            <a:r>
              <a:t>and Visio diagrams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11879" y="3520440"/>
            <a:ext cx="1600200" cy="13258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85031" y="3611880"/>
            <a:ext cx="1463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Automated lineage</a:t>
            </a:r>
            <a:br/>
            <a:r>
              <a:t>tracing across</a:t>
            </a:r>
            <a:br/>
            <a:r>
              <a:t>pipelines, APIs,</a:t>
            </a:r>
            <a:br/>
            <a:r>
              <a:t>and transformations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49240" y="2011680"/>
            <a:ext cx="1600200" cy="132588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22392" y="2103120"/>
            <a:ext cx="1463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Periodic quality</a:t>
            </a:r>
            <a:br/>
            <a:r>
              <a:t>audits (quarterly)</a:t>
            </a:r>
            <a:br/>
            <a:r>
              <a:t>with manual</a:t>
            </a:r>
            <a:br/>
            <a:r>
              <a:t>scoring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49240" y="3520440"/>
            <a:ext cx="1600200" cy="13258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22392" y="3611880"/>
            <a:ext cx="1463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24/7 real-time</a:t>
            </a:r>
            <a:br/>
            <a:r>
              <a:t>quality monitoring</a:t>
            </a:r>
            <a:br/>
            <a:r>
              <a:t>with predictive</a:t>
            </a:r>
            <a:br/>
            <a:r>
              <a:t>anomaly detection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86599" y="2011680"/>
            <a:ext cx="1600200" cy="132588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59751" y="2103120"/>
            <a:ext cx="1463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Reactive root-cause</a:t>
            </a:r>
            <a:br/>
            <a:r>
              <a:t>analysis after</a:t>
            </a:r>
            <a:br/>
            <a:r>
              <a:t>business impact</a:t>
            </a:r>
            <a:br/>
            <a:r>
              <a:t>already felt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599" y="3520440"/>
            <a:ext cx="1600200" cy="13258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59751" y="3611880"/>
            <a:ext cx="1463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AI agents diagnose</a:t>
            </a:r>
            <a:br/>
            <a:r>
              <a:t>root causes instantly</a:t>
            </a:r>
            <a:br/>
            <a:r>
              <a:t>using pattern analysis</a:t>
            </a:r>
            <a:br/>
            <a:r>
              <a:t>and knowledge base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23959" y="2011680"/>
            <a:ext cx="1600200" cy="132588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97111" y="2103120"/>
            <a:ext cx="1463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Stewards manually</a:t>
            </a:r>
            <a:br/>
            <a:r>
              <a:t>research and</a:t>
            </a:r>
            <a:br/>
            <a:r>
              <a:t>propose fixes</a:t>
            </a:r>
            <a:br/>
            <a:r>
              <a:t>via tickets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23959" y="3520440"/>
            <a:ext cx="1600200" cy="13258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97111" y="3611880"/>
            <a:ext cx="1463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Context-aware</a:t>
            </a:r>
            <a:br/>
            <a:r>
              <a:t>remediation suggestions</a:t>
            </a:r>
            <a:br/>
            <a:r>
              <a:t>ranked by confidence</a:t>
            </a:r>
            <a:br/>
            <a:r>
              <a:t>and business impact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61320" y="2011680"/>
            <a:ext cx="1600200" cy="132588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34472" y="2103120"/>
            <a:ext cx="1463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Manual remediation</a:t>
            </a:r>
            <a:br/>
            <a:r>
              <a:t>cycles taking</a:t>
            </a:r>
            <a:br/>
            <a:r>
              <a:t>days to weeks</a:t>
            </a:r>
            <a:br/>
            <a:r>
              <a:t>per issue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561320" y="3520440"/>
            <a:ext cx="1600200" cy="13258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34472" y="3611880"/>
            <a:ext cx="1463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Auto-fix low-risk</a:t>
            </a:r>
            <a:br/>
            <a:r>
              <a:t>issues, escalate</a:t>
            </a:r>
            <a:br/>
            <a:r>
              <a:t>high-risk with full</a:t>
            </a:r>
            <a:br/>
            <a:r>
              <a:t>context to stewards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0" y="3355848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830051"/>
                </a:solidFill>
              </a:defRPr>
            </a:pPr>
            <a:r>
              <a:t>▼  Agentic AI Transformation  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5029200"/>
            <a:ext cx="12191695" cy="27432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5166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830051"/>
                </a:solidFill>
              </a:defRPr>
            </a:pPr>
            <a:r>
              <a:t>How This Maps to AstraZeneca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553212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30051"/>
                </a:solidFill>
              </a:rPr>
              <a:t>DISCOVER: </a:t>
            </a:r>
            <a:r>
              <a:rPr sz="800" b="0" i="0">
                <a:solidFill>
                  <a:srgbClr val="2D2D2D"/>
                </a:solidFill>
              </a:rPr>
              <a:t>Auto-discover metadata across Informatica MDM, SAP MDG, Collibra, Databricks, Veeva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51959" y="553212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148C"/>
                </a:solidFill>
              </a:rPr>
              <a:t>TRACE: </a:t>
            </a:r>
            <a:r>
              <a:rPr sz="800" b="0" i="0">
                <a:solidFill>
                  <a:srgbClr val="2D2D2D"/>
                </a:solidFill>
              </a:rPr>
              <a:t>Automated lineage from SAP S/4HANA through MDM to downstream analytics and BIKG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553212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88E5"/>
                </a:solidFill>
              </a:rPr>
              <a:t>MONITOR: </a:t>
            </a:r>
            <a:r>
              <a:rPr sz="800" b="0" i="0">
                <a:solidFill>
                  <a:srgbClr val="2D2D2D"/>
                </a:solidFill>
              </a:rPr>
              <a:t>Real-time quality monitoring replacing quarterly Excel scorecards across all domains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" y="50168194812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97B"/>
                </a:solidFill>
              </a:rPr>
              <a:t>DIAGNOSE: </a:t>
            </a:r>
            <a:r>
              <a:rPr sz="800" b="0" i="0">
                <a:solidFill>
                  <a:srgbClr val="2D2D2D"/>
                </a:solidFill>
              </a:rPr>
              <a:t>AI-powered root cause analysis on HCP matching failures, material master conflicts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51959" y="50168194812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</a:rPr>
              <a:t>SUGGEST: </a:t>
            </a:r>
            <a:r>
              <a:rPr sz="800" b="0" i="0">
                <a:solidFill>
                  <a:srgbClr val="2D2D2D"/>
                </a:solidFill>
              </a:rPr>
              <a:t>Context-aware remediation for data stewards — ranked by confidence and risk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50168194812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A000"/>
                </a:solidFill>
              </a:rPr>
              <a:t>FIX: </a:t>
            </a:r>
            <a:r>
              <a:rPr sz="800" b="0" i="0">
                <a:solidFill>
                  <a:srgbClr val="2D2D2D"/>
                </a:solidFill>
              </a:rPr>
              <a:t>Autonomous low-risk fixes (dedup, format, enrich); escalation for high-risk changes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Agentic Data Management 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555555"/>
                </a:solidFill>
              </a:defRPr>
            </a:pPr>
            <a:r>
              <a:t>Layered architecture — agentic capabilities on top of existing AZ data investments (no rip-and-replace)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280160"/>
            <a:ext cx="2103120" cy="822960"/>
          </a:xfrm>
          <a:prstGeom prst="round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417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HUMAN</a:t>
            </a:r>
            <a:br/>
            <a:r>
              <a:t>INTERACTION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280160"/>
            <a:ext cx="2240280" cy="822960"/>
          </a:xfrm>
          <a:prstGeom prst="roundRect">
            <a:avLst/>
          </a:prstGeom>
          <a:solidFill>
            <a:srgbClr val="F8E0EB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29844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30051"/>
                </a:solidFill>
              </a:defRPr>
            </a:pPr>
            <a:r>
              <a:t>Data Steward</a:t>
            </a:r>
            <a:br/>
            <a:r>
              <a:t>Console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66420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55555"/>
                </a:solidFill>
              </a:defRPr>
            </a:pPr>
            <a:r>
              <a:t>Review, approve,</a:t>
            </a:r>
            <a:br/>
            <a:r>
              <a:t>override agent decisions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79" y="1280160"/>
            <a:ext cx="2240280" cy="822960"/>
          </a:xfrm>
          <a:prstGeom prst="roundRect">
            <a:avLst/>
          </a:prstGeom>
          <a:solidFill>
            <a:srgbClr val="F8E0EB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19" y="129844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30051"/>
                </a:solidFill>
              </a:defRPr>
            </a:pPr>
            <a:r>
              <a:t>Governance</a:t>
            </a:r>
            <a:br/>
            <a: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19" y="166420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55555"/>
                </a:solidFill>
              </a:defRPr>
            </a:pPr>
            <a:r>
              <a:t>Real-time quality</a:t>
            </a:r>
            <a:br/>
            <a:r>
              <a:t>scores &amp; compliance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280160"/>
            <a:ext cx="2240280" cy="822960"/>
          </a:xfrm>
          <a:prstGeom prst="roundRect">
            <a:avLst/>
          </a:prstGeom>
          <a:solidFill>
            <a:srgbClr val="F8E0EB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129844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30051"/>
                </a:solidFill>
              </a:defRPr>
            </a:pPr>
            <a:r>
              <a:t>Natural Language</a:t>
            </a:r>
            <a:br/>
            <a:r>
              <a:t>Interface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166420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55555"/>
                </a:solidFill>
              </a:defRPr>
            </a:pPr>
            <a:r>
              <a:t>Ask questions in plain</a:t>
            </a:r>
            <a:br/>
            <a:r>
              <a:t>English, get answers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1280160"/>
            <a:ext cx="2240280" cy="822960"/>
          </a:xfrm>
          <a:prstGeom prst="roundRect">
            <a:avLst/>
          </a:prstGeom>
          <a:solidFill>
            <a:srgbClr val="F8E0EB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129844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30051"/>
                </a:solidFill>
              </a:defRPr>
            </a:pPr>
            <a:r>
              <a:t>Audit &amp;</a:t>
            </a:r>
            <a:br/>
            <a:r>
              <a:t>Explainability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166420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55555"/>
                </a:solidFill>
              </a:defRPr>
            </a:pPr>
            <a:r>
              <a:t>Full trail of every</a:t>
            </a:r>
            <a:br/>
            <a:r>
              <a:t>agent decision &amp;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1031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830051"/>
                </a:solidFill>
              </a:defRPr>
            </a:pPr>
            <a:r>
              <a:t>↓  ↓  ↓  ↓  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" y="2377440"/>
            <a:ext cx="2103120" cy="82296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25146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POLICY &amp;</a:t>
            </a:r>
            <a:br/>
            <a:r>
              <a:t>ORCHESTRATION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0" y="2377440"/>
            <a:ext cx="2240280" cy="82296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1760" y="239572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4A148C"/>
                </a:solidFill>
              </a:defRPr>
            </a:pPr>
            <a:r>
              <a:t>Policy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276148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55555"/>
                </a:solidFill>
              </a:defRPr>
            </a:pPr>
            <a:r>
              <a:t>Enforces data governance</a:t>
            </a:r>
            <a:br/>
            <a:r>
              <a:t>policies autonomously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83479" y="2377440"/>
            <a:ext cx="2240280" cy="82296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19" y="239572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4A148C"/>
                </a:solidFill>
              </a:defRPr>
            </a:pPr>
            <a:r>
              <a:t>Dynamic Workflow</a:t>
            </a:r>
            <a:br/>
            <a:r>
              <a:t>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19" y="276148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55555"/>
                </a:solidFill>
              </a:defRPr>
            </a:pPr>
            <a:r>
              <a:t>Routes tasks based on</a:t>
            </a:r>
            <a:br/>
            <a:r>
              <a:t>risk, urgency, context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2377440"/>
            <a:ext cx="2240280" cy="82296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0" y="239572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4A148C"/>
                </a:solidFill>
              </a:defRPr>
            </a:pPr>
            <a:r>
              <a:t>Observability</a:t>
            </a:r>
            <a:br/>
            <a:r>
              <a:t>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276148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55555"/>
                </a:solidFill>
              </a:defRPr>
            </a:pPr>
            <a:r>
              <a:t>Monitors all agent</a:t>
            </a:r>
            <a:br/>
            <a:r>
              <a:t>actions &amp; performance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29800" y="2377440"/>
            <a:ext cx="2240280" cy="82296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9572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4A148C"/>
                </a:solidFill>
              </a:defRPr>
            </a:pPr>
            <a:r>
              <a:t>Orchestration</a:t>
            </a:r>
            <a:br/>
            <a:r>
              <a:t>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276148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55555"/>
                </a:solidFill>
              </a:defRPr>
            </a:pPr>
            <a:r>
              <a:t>Coordinates multi-agent</a:t>
            </a:r>
            <a:br/>
            <a:r>
              <a:t>workflows end-to-end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32004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4A148C"/>
                </a:solidFill>
              </a:defRPr>
            </a:pPr>
            <a:r>
              <a:t>↓  ↓  ↓  ↓  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8600" y="3474720"/>
            <a:ext cx="2103120" cy="82296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35204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DATA</a:t>
            </a:r>
            <a:br/>
            <a:r>
              <a:t>MANAGEMENT</a:t>
            </a:r>
            <a:br/>
            <a:r>
              <a:t>AGENTS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60320" y="3474720"/>
            <a:ext cx="2240280" cy="8229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1760" y="349300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E88E5"/>
                </a:solidFill>
              </a:defRPr>
            </a:pPr>
            <a:r>
              <a:t>Metadata</a:t>
            </a:r>
            <a:br/>
            <a:r>
              <a:t>Discovery 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385876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55555"/>
                </a:solidFill>
              </a:defRPr>
            </a:pPr>
            <a:r>
              <a:t>Auto-discovers schemas,</a:t>
            </a:r>
            <a:br/>
            <a:r>
              <a:t>relationships, owners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79" y="3474720"/>
            <a:ext cx="2240280" cy="8229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19" y="349300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E88E5"/>
                </a:solidFill>
              </a:defRPr>
            </a:pPr>
            <a:r>
              <a:t>Lineage</a:t>
            </a:r>
            <a:br/>
            <a:r>
              <a:t>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74919" y="385876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55555"/>
                </a:solidFill>
              </a:defRPr>
            </a:pPr>
            <a:r>
              <a:t>Traces data flow across</a:t>
            </a:r>
            <a:br/>
            <a:r>
              <a:t>entire platform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06640" y="3474720"/>
            <a:ext cx="2240280" cy="8229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0" y="349300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E88E5"/>
                </a:solidFill>
              </a:defRPr>
            </a:pPr>
            <a:r>
              <a:t>DQ Monitoring</a:t>
            </a:r>
            <a:br/>
            <a:r>
              <a:t>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0" y="385876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55555"/>
                </a:solidFill>
              </a:defRPr>
            </a:pPr>
            <a:r>
              <a:t>Real-time quality checks,</a:t>
            </a:r>
            <a:br/>
            <a:r>
              <a:t>anomaly detection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829800" y="3474720"/>
            <a:ext cx="2240280" cy="8229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21240" y="349300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E88E5"/>
                </a:solidFill>
              </a:defRPr>
            </a:pPr>
            <a:r>
              <a:t>Root Cause</a:t>
            </a:r>
            <a:br/>
            <a:r>
              <a:t>Analysis Agent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21240" y="385876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55555"/>
                </a:solidFill>
              </a:defRPr>
            </a:pPr>
            <a:r>
              <a:t>Diagnoses data issues</a:t>
            </a:r>
            <a:br/>
            <a:r>
              <a:t>using pattern analysis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560320" y="4343400"/>
            <a:ext cx="2240280" cy="5943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51760" y="436168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E88E5"/>
                </a:solidFill>
              </a:defRPr>
            </a:pPr>
            <a:r>
              <a:t>Resolution</a:t>
            </a:r>
            <a:br/>
            <a:r>
              <a:t>Agent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466344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55555"/>
                </a:solidFill>
              </a:defRPr>
            </a:pPr>
            <a:r>
              <a:t>Applies automated</a:t>
            </a:r>
            <a:br/>
            <a:r>
              <a:t>fixes for known issues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83479" y="4343400"/>
            <a:ext cx="2240280" cy="5943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74919" y="436168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E88E5"/>
                </a:solidFill>
              </a:defRPr>
            </a:pPr>
            <a:r>
              <a:t>Escalation</a:t>
            </a:r>
            <a:br/>
            <a:r>
              <a:t>Agent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74919" y="466344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55555"/>
                </a:solidFill>
              </a:defRPr>
            </a:pPr>
            <a:r>
              <a:t>Routes complex issues</a:t>
            </a:r>
            <a:br/>
            <a:r>
              <a:t>to human stewards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0" y="49377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1E88E5"/>
                </a:solidFill>
              </a:defRPr>
            </a:pPr>
            <a:r>
              <a:t>↓  ↓  ↓  ↓  ↓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28600" y="5212080"/>
            <a:ext cx="2103120" cy="59436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528523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KNOWLEDGE</a:t>
            </a:r>
            <a:br/>
            <a:r>
              <a:t>BASE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560320" y="5212080"/>
            <a:ext cx="2240280" cy="59436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51760" y="523036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0897B"/>
                </a:solidFill>
              </a:defRPr>
            </a:pPr>
            <a:r>
              <a:t>Business Rules</a:t>
            </a:r>
            <a:br/>
            <a:r>
              <a:t>&amp; Policies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51760" y="548640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55555"/>
                </a:solidFill>
              </a:defRPr>
            </a:pPr>
            <a:r>
              <a:t>Data standards, validation</a:t>
            </a:r>
            <a:br/>
            <a:r>
              <a:t>rules, compliance policies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983479" y="5212080"/>
            <a:ext cx="2240280" cy="59436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74919" y="523036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0897B"/>
                </a:solidFill>
              </a:defRPr>
            </a:pPr>
            <a:r>
              <a:t>Historical Patterns</a:t>
            </a:r>
            <a:br/>
            <a:r>
              <a:t>&amp; Decisions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74919" y="548640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55555"/>
                </a:solidFill>
              </a:defRPr>
            </a:pPr>
            <a:r>
              <a:t>Past resolutions, steward</a:t>
            </a:r>
            <a:br/>
            <a:r>
              <a:t>decisions, outcomes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406640" y="5212080"/>
            <a:ext cx="2240280" cy="59436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98080" y="523036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0897B"/>
                </a:solidFill>
              </a:defRPr>
            </a:pPr>
            <a:r>
              <a:t>Domain Knowledge</a:t>
            </a:r>
            <a:br/>
            <a:r>
              <a:t>&amp; Ontologies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98080" y="548640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55555"/>
                </a:solidFill>
              </a:defRPr>
            </a:pPr>
            <a:r>
              <a:t>Pharma domain models,</a:t>
            </a:r>
            <a:br/>
            <a:r>
              <a:t>data dictionaries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28600" y="5989320"/>
            <a:ext cx="2103120" cy="5943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4320" y="606247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AZ DATA</a:t>
            </a:r>
            <a:br/>
            <a:r>
              <a:t>PLATFORMS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560320" y="5989320"/>
            <a:ext cx="2240280" cy="5943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51760" y="600760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E7D32"/>
                </a:solidFill>
              </a:defRPr>
            </a:pPr>
            <a:r>
              <a:t>Informatica MDM</a:t>
            </a:r>
            <a:br/>
            <a:r>
              <a:t>+ SAP MDG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51760" y="6281928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55555"/>
                </a:solidFill>
              </a:defRPr>
            </a:pPr>
            <a:r>
              <a:t>Master data hubs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983479" y="5989320"/>
            <a:ext cx="2240280" cy="5943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74919" y="600760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E7D32"/>
                </a:solidFill>
              </a:defRPr>
            </a:pPr>
            <a:r>
              <a:t>Collibra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74919" y="6281928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55555"/>
                </a:solidFill>
              </a:defRPr>
            </a:pPr>
            <a:r>
              <a:t>Data catalog &amp; governance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406640" y="5989320"/>
            <a:ext cx="2240280" cy="5943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498080" y="600760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E7D32"/>
                </a:solidFill>
              </a:defRPr>
            </a:pPr>
            <a:r>
              <a:t>AWS / Databricks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98080" y="6281928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55555"/>
                </a:solidFill>
              </a:defRPr>
            </a:pPr>
            <a:r>
              <a:t>Cloud &amp; analytics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829800" y="5989320"/>
            <a:ext cx="2240280" cy="5943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921240" y="600760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E7D32"/>
                </a:solidFill>
              </a:defRPr>
            </a:pPr>
            <a:r>
              <a:t>SAP S/4HANA</a:t>
            </a:r>
            <a:br/>
            <a:r>
              <a:t>+ Veeva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921240" y="6281928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55555"/>
                </a:solidFill>
              </a:defRPr>
            </a:pPr>
            <a:r>
              <a:t>ERP &amp; CRM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75520" y="5212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1">
                <a:solidFill>
                  <a:srgbClr val="555555"/>
                </a:solidFill>
              </a:defRPr>
            </a:pPr>
            <a:r>
              <a:t>Based on Capco/Wipro</a:t>
            </a:r>
            <a:br/>
            <a:r>
              <a:t>Agentic Data Management</a:t>
            </a:r>
            <a:br/>
            <a:r>
              <a:t>Framework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The Operating Model Shift — Today &amp; Tomorrow with Agentic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05840"/>
            <a:ext cx="5669280" cy="55778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C62828"/>
                </a:solidFill>
              </a:defRPr>
            </a:pPr>
            <a:r>
              <a:t>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1">
                <a:solidFill>
                  <a:srgbClr val="555555"/>
                </a:solidFill>
              </a:defRPr>
            </a:pPr>
            <a:r>
              <a:t>Manual, Reactive, Resource-Intensive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54480"/>
            <a:ext cx="5394960" cy="914400"/>
          </a:xfrm>
          <a:prstGeom prst="roundRect">
            <a:avLst/>
          </a:prstGeom>
          <a:noFill/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62828"/>
                </a:solidFill>
              </a:defRPr>
            </a:pPr>
            <a:r>
              <a:t>Master Data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Manual golden record creation across 6+ domains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2143434280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HCP/Customer matching: high false positives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4285085480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6 data stewards for material master alone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6426736680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SAP MDG + Informatica MDM: siloed processes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578608"/>
            <a:ext cx="5394960" cy="914400"/>
          </a:xfrm>
          <a:prstGeom prst="roundRect">
            <a:avLst/>
          </a:prstGeom>
          <a:noFill/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968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9800"/>
                </a:solidFill>
              </a:defRPr>
            </a:pPr>
            <a:r>
              <a:t>Data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807208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Policy documentation in static SharePoint docs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42144458408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Manual data classification and cataloging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84286109608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Lineage traced through interviews, not 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6427760808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Compliance checks: quarterly, not real-time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602736"/>
            <a:ext cx="5394960" cy="914400"/>
          </a:xfrm>
          <a:prstGeom prst="roundRect">
            <a:avLst/>
          </a:prstGeom>
          <a:noFill/>
          <a:ln w="12700">
            <a:solidFill>
              <a:srgbClr val="C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62102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4A000"/>
                </a:solidFill>
              </a:defRPr>
            </a:pPr>
            <a:r>
              <a:t>Data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831336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Reactive issue detection post-incident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42145482536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Excel-based quality scorecards, lag 2-4 weeks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84287133736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Manual profiling and remediation cycles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26428784936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No predictive quality monitoring capability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626864"/>
            <a:ext cx="5394960" cy="914400"/>
          </a:xfrm>
          <a:prstGeom prst="roundRect">
            <a:avLst/>
          </a:prstGeom>
          <a:noFill/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6451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555555"/>
                </a:solidFill>
              </a:defRPr>
            </a:pPr>
            <a:r>
              <a:t>Data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855464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High OSP dependency for routine tasks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142146506664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FTE-based staffing model, not outcome-driven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284288157864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Ticket-based data creation/maintenance workflows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26429809064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Manual data migration and cleansing efforts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005840"/>
            <a:ext cx="5715000" cy="5577840"/>
          </a:xfrm>
          <a:prstGeom prst="rect">
            <a:avLst/>
          </a:prstGeom>
          <a:noFill/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1051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E7D32"/>
                </a:solidFill>
              </a:defRPr>
            </a:pPr>
            <a:r>
              <a:t>TOMORROW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109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1">
                <a:solidFill>
                  <a:srgbClr val="2E7D32"/>
                </a:solidFill>
              </a:defRPr>
            </a:pPr>
            <a:r>
              <a:t>Agentic, Autonomous, Self-Healing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1554480"/>
            <a:ext cx="5440680" cy="914400"/>
          </a:xfrm>
          <a:prstGeom prst="roundRect">
            <a:avLst/>
          </a:prstGeom>
          <a:noFill/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157276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E7D32"/>
                </a:solidFill>
              </a:defRPr>
            </a:pPr>
            <a:r>
              <a:t>Agentic MDM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1783080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Discovery agents auto-find metadata across all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142143434280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Resolution agents auto-fix low-risk matching issues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284285085480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Stewards shift from data entry to strategy (6 to 1)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26426736680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Orchestration agent coordinates cross-domain harmonization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55080" y="2578608"/>
            <a:ext cx="5440680" cy="914400"/>
          </a:xfrm>
          <a:prstGeom prst="roundRect">
            <a:avLst/>
          </a:prstGeom>
          <a:noFill/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25968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897B"/>
                </a:solidFill>
              </a:defRPr>
            </a:pPr>
            <a:r>
              <a:t>Agentic Governance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2807208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Policy agent enforces compliance continuously, not quarterly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142144458408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Lineage agent traces data flow across entire 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284286109608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Automated classification — PII/PHI tagged in real-time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426427760808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Observability agent monitors all governance agent actions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55080" y="3602736"/>
            <a:ext cx="5440680" cy="914400"/>
          </a:xfrm>
          <a:prstGeom prst="roundRect">
            <a:avLst/>
          </a:prstGeom>
          <a:noFill/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362102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E88E5"/>
                </a:solidFill>
              </a:defRPr>
            </a:pPr>
            <a:r>
              <a:t>Agentic Data Quality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3831336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DQ monitoring agent detects anomalies 24/7 proactively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142145482536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Root cause analysis agent diagnoses issues instantly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284287133736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Self-healing: auto-fix, escalate when confidence is low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426428784936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Continuous learning from steward corrections over time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55080" y="4626864"/>
            <a:ext cx="5440680" cy="914400"/>
          </a:xfrm>
          <a:prstGeom prst="roundRect">
            <a:avLst/>
          </a:prstGeom>
          <a:noFill/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46451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4A148C"/>
                </a:solidFill>
              </a:defRPr>
            </a:pPr>
            <a:r>
              <a:t>Agentic Operations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4855464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70% reduction in manual data stewardship effort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0" y="142146506664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Dynamic workflow agent routes tasks by risk and urgency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284288157864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Outcome-based OSP model, not FTE-based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426429809064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• Human-in-the-loop for strategy; agents for execution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623560" y="3200400"/>
            <a:ext cx="914400" cy="685800"/>
          </a:xfrm>
          <a:prstGeom prst="round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23560" y="3218688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Agentic</a:t>
            </a:r>
            <a:br/>
            <a:r>
              <a:t>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What Pharma Leaders Actually Did — Eli Lilly &amp; Novartis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960120"/>
            <a:ext cx="5760720" cy="5486400"/>
          </a:xfrm>
          <a:prstGeom prst="roundRect">
            <a:avLst/>
          </a:prstGeom>
          <a:noFill/>
          <a:ln w="254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600" y="960120"/>
            <a:ext cx="5760720" cy="50292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</a:defRPr>
            </a:pPr>
            <a:r>
              <a:t>Eli Lilly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4A148C"/>
                </a:solidFill>
              </a:defRPr>
            </a:pPr>
            <a:r>
              <a:t>What They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56232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2D2D"/>
                </a:solidFill>
              </a:defRPr>
            </a:pPr>
            <a:r>
              <a:t>• Global Manufacturing Data Fabric (GMDF) on Databricks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• Serverless architecture, PySpark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58568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• Unity Catalog for governance, Auto Loader for streaming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597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55555"/>
                </a:solidFill>
              </a:defRPr>
            </a:pPr>
            <a:r>
              <a:t>• Centralized analytics platform scaling AI enterprise-wide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7063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4A148C"/>
                </a:solidFill>
              </a:defRPr>
            </a:pPr>
            <a:r>
              <a:t>What Changed in MDM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2666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2D2D"/>
                </a:solidFill>
              </a:defRPr>
            </a:pPr>
            <a:r>
              <a:t>• Material Master: 100 fields put under global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27832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• Syniti platform automated data governance workflows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29000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E7D32"/>
                </a:solidFill>
              </a:defRPr>
            </a:pPr>
            <a:r>
              <a:t>• Global data stewards reduced from 6 to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630168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55555"/>
                </a:solidFill>
              </a:defRPr>
            </a:pPr>
            <a:r>
              <a:t>• Changes auto-distributed to local stewards via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41064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4A148C"/>
                </a:solidFill>
              </a:defRPr>
            </a:pPr>
            <a:r>
              <a:t>Mapping to Agentic Lifecycle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19709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4A148C"/>
                </a:solidFill>
              </a:defRPr>
            </a:pPr>
            <a:r>
              <a:t>• DISCOVER + TRACE: Auto-discovery via Unity Catalog &amp; lineage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39826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• MONITOR: Automated quality checks on manufacturing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599432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• SUGGEST + FIX: Workflows auto-route and auto-apply changes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800600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55555"/>
                </a:solidFill>
              </a:defRPr>
            </a:pPr>
            <a:r>
              <a:t>• 10+ AI use cases running autonomously across the enterprise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623560"/>
            <a:ext cx="5303520" cy="640080"/>
          </a:xfrm>
          <a:prstGeom prst="roundRect">
            <a:avLst/>
          </a:prstGeom>
          <a:solidFill>
            <a:srgbClr val="F8E0EB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715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148C"/>
                </a:solidFill>
              </a:rPr>
              <a:t>KEY RESULT: </a:t>
            </a:r>
            <a:r>
              <a:rPr sz="900" b="0" i="0">
                <a:solidFill>
                  <a:srgbClr val="2D2D2D"/>
                </a:solidFill>
              </a:rPr>
              <a:t>6 stewards to 1. 100 material master fields under automated governance. Autonomous workflows replaced manual ticket-based processes.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960120"/>
            <a:ext cx="5760720" cy="5486400"/>
          </a:xfrm>
          <a:prstGeom prst="roundRect">
            <a:avLst/>
          </a:prstGeom>
          <a:noFill/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960120"/>
            <a:ext cx="5760720" cy="50292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005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</a:defRPr>
            </a:pPr>
            <a:r>
              <a:t>Novartis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16002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897B"/>
                </a:solidFill>
              </a:defRPr>
            </a:pPr>
            <a:r>
              <a:t>What They Built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856232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2D2D"/>
                </a:solidFill>
              </a:defRPr>
            </a:pPr>
            <a:r>
              <a:t>• Multi-cloud data platform (AWS primary, Azure secondary)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057400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• Accenture-built data operating model + governance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258568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• Centralized data catalogue, Dataiku for AI governance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4597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55555"/>
                </a:solidFill>
              </a:defRPr>
            </a:pPr>
            <a:r>
              <a:t>• Centralized multi-tenant data hub across countries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77063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897B"/>
                </a:solidFill>
              </a:defRPr>
            </a:pPr>
            <a:r>
              <a:t>What Changed in Data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02666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2D2D"/>
                </a:solidFill>
              </a:defRPr>
            </a:pPr>
            <a:r>
              <a:t>• Enterprise Data Management + Quality + Compliance unified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227832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E7D32"/>
                </a:solidFill>
              </a:defRPr>
            </a:pPr>
            <a:r>
              <a:t>• New use case setup: went from 2 weeks to 1 day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429000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• Data &amp; Digital Leadership made 1 of 5 strategic priorities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630168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55555"/>
                </a:solidFill>
              </a:defRPr>
            </a:pPr>
            <a:r>
              <a:t>• Partnerships with Microsoft, ConcertAI, Amazon for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941064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897B"/>
                </a:solidFill>
              </a:defRPr>
            </a:pPr>
            <a:r>
              <a:t>Mapping to Agentic Lifecycle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19709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0897B"/>
                </a:solidFill>
              </a:defRPr>
            </a:pPr>
            <a:r>
              <a:t>• DISCOVER + TRACE: Centralized catalogue, automated lineage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39826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• MONITOR + DIAGNOSE: 90% faster insights (21 days to 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4599432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• SUGGEST + FIX: Modular AI components reused across use cases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800600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55555"/>
                </a:solidFill>
              </a:defRPr>
            </a:pPr>
            <a:r>
              <a:t>• AI governance ensures agents themselves are compliant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46520" y="5623560"/>
            <a:ext cx="5303520" cy="64008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5715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97B"/>
                </a:solidFill>
              </a:rPr>
              <a:t>KEY RESULT: </a:t>
            </a:r>
            <a:r>
              <a:rPr sz="900" b="0" i="0">
                <a:solidFill>
                  <a:srgbClr val="2D2D2D"/>
                </a:solidFill>
              </a:rPr>
              <a:t>90% faster insights. 2 weeks to 1 day for new use cases. Autonomous AI pipelines across the data platform — not manual, not prompted.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Benefits of Agentic Data Management —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555555"/>
                </a:solidFill>
              </a:defRPr>
            </a:pPr>
            <a:r>
              <a:t>Six pillars of value from adopting an agentic approach to data management at AstraZeneca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25880"/>
            <a:ext cx="3749039" cy="2423160"/>
          </a:xfrm>
          <a:prstGeom prst="roundRect">
            <a:avLst/>
          </a:prstGeom>
          <a:noFill/>
          <a:ln w="254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325880"/>
            <a:ext cx="3749039" cy="685800"/>
          </a:xfrm>
          <a:prstGeom prst="round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</a:defRPr>
            </a:pPr>
            <a:r>
              <a:t>User</a:t>
            </a:r>
            <a:br/>
            <a:r>
              <a:t>Empowerment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D2D2D"/>
                </a:solidFill>
              </a:defRPr>
            </a:pPr>
            <a:r>
              <a:t>• Self-service via natural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4453047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D2D2D"/>
                </a:solidFill>
              </a:defRPr>
            </a:pPr>
            <a:r>
              <a:t>• Stewards become strategists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68903991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D2D2D"/>
                </a:solidFill>
              </a:defRPr>
            </a:pPr>
            <a:r>
              <a:t>• Reduced dependency on IT/OSP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03354935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D2D2D"/>
                </a:solidFill>
              </a:defRPr>
            </a:pPr>
            <a:r>
              <a:t>• Faster time-to-answer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1325880"/>
            <a:ext cx="3749039" cy="2423160"/>
          </a:xfrm>
          <a:prstGeom prst="roundRect">
            <a:avLst/>
          </a:prstGeom>
          <a:noFill/>
          <a:ln w="254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51959" y="1325880"/>
            <a:ext cx="3749039" cy="68580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19" y="13716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</a:defRPr>
            </a:pPr>
            <a:r>
              <a:t>Smart Metadata</a:t>
            </a:r>
            <a:br/>
            <a:r>
              <a:t>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39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D2D2D"/>
                </a:solidFill>
              </a:defRPr>
            </a:pPr>
            <a:r>
              <a:t>• Auto-discovery across platforms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39" y="334453047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D2D2D"/>
                </a:solidFill>
              </a:defRPr>
            </a:pPr>
            <a:r>
              <a:t>• Relationships mapped automatically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39" y="668903991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D2D2D"/>
                </a:solidFill>
              </a:defRPr>
            </a:pPr>
            <a:r>
              <a:t>• Always-current data catalogue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39" y="1003354935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D2D2D"/>
                </a:solidFill>
              </a:defRPr>
            </a:pPr>
            <a:r>
              <a:t>• Reduced manual documentation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325880"/>
            <a:ext cx="3749039" cy="2423160"/>
          </a:xfrm>
          <a:prstGeom prst="roundRect">
            <a:avLst/>
          </a:prstGeom>
          <a:noFill/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0" y="1325880"/>
            <a:ext cx="3749039" cy="6858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3716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</a:defRPr>
            </a:pPr>
            <a:r>
              <a:t>Proactive Data</a:t>
            </a:r>
            <a:br/>
            <a:r>
              <a:t>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D2D2D"/>
                </a:solidFill>
              </a:defRPr>
            </a:pPr>
            <a:r>
              <a:t>• 24/7 anomaly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34453047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D2D2D"/>
                </a:solidFill>
              </a:defRPr>
            </a:pPr>
            <a:r>
              <a:t>• Predictive quality scoring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668903991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D2D2D"/>
                </a:solidFill>
              </a:defRPr>
            </a:pPr>
            <a:r>
              <a:t>• Self-healing data pipelines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1003354935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D2D2D"/>
                </a:solidFill>
              </a:defRPr>
            </a:pPr>
            <a:r>
              <a:t>• Issues caught before impact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3931920"/>
            <a:ext cx="3749039" cy="2423160"/>
          </a:xfrm>
          <a:prstGeom prst="roundRect">
            <a:avLst/>
          </a:prstGeom>
          <a:noFill/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74320" y="3931920"/>
            <a:ext cx="3749039" cy="68580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9776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</a:defRPr>
            </a:pPr>
            <a:r>
              <a:t>Process</a:t>
            </a:r>
            <a:br/>
            <a:r>
              <a:t>Automation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709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D2D2D"/>
                </a:solidFill>
              </a:defRPr>
            </a:pPr>
            <a:r>
              <a:t>• 70% stewardship automation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34455653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D2D2D"/>
                </a:solidFill>
              </a:defRPr>
            </a:pPr>
            <a:r>
              <a:t>• Autonomous workflow routing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8906597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D2D2D"/>
                </a:solidFill>
              </a:defRPr>
            </a:pPr>
            <a:r>
              <a:t>• Low-risk auto-resolution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1003357541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D2D2D"/>
                </a:solidFill>
              </a:defRPr>
            </a:pPr>
            <a:r>
              <a:t>• Outcome-based OSP model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51959" y="3931920"/>
            <a:ext cx="3749039" cy="2423160"/>
          </a:xfrm>
          <a:prstGeom prst="roundRect">
            <a:avLst/>
          </a:prstGeom>
          <a:noFill/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251959" y="3931920"/>
            <a:ext cx="3749039" cy="6858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19" y="39776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</a:defRPr>
            </a:pPr>
            <a:r>
              <a:t>Future-Ready</a:t>
            </a:r>
            <a:br/>
            <a:r>
              <a:t>Foundation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39" y="4709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D2D2D"/>
                </a:solidFill>
              </a:defRPr>
            </a:pPr>
            <a:r>
              <a:t>• Scalable agent architecture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39" y="334455653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D2D2D"/>
                </a:solidFill>
              </a:defRPr>
            </a:pPr>
            <a:r>
              <a:t>• Continuous learning 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39" y="668906597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D2D2D"/>
                </a:solidFill>
              </a:defRPr>
            </a:pPr>
            <a:r>
              <a:t>• Ready for new AI capabilities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39" y="1003357541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D2D2D"/>
                </a:solidFill>
              </a:defRPr>
            </a:pPr>
            <a:r>
              <a:t>• Modular, extensible platform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3931920"/>
            <a:ext cx="3749039" cy="2423160"/>
          </a:xfrm>
          <a:prstGeom prst="roundRect">
            <a:avLst/>
          </a:prstGeom>
          <a:noFill/>
          <a:ln w="25400">
            <a:solidFill>
              <a:srgbClr val="C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229600" y="3931920"/>
            <a:ext cx="3749039" cy="685800"/>
          </a:xfrm>
          <a:prstGeom prst="roundRect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66760" y="39776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</a:defRPr>
            </a:pPr>
            <a:r>
              <a:t>CDO</a:t>
            </a:r>
            <a:br/>
            <a:r>
              <a:t>Effectiveness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709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D2D2D"/>
                </a:solidFill>
              </a:defRPr>
            </a:pPr>
            <a:r>
              <a:t>• Real-time governance visibility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334455653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D2D2D"/>
                </a:solidFill>
              </a:defRPr>
            </a:pPr>
            <a:r>
              <a:t>• Data-driven decision making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668906597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D2D2D"/>
                </a:solidFill>
              </a:defRPr>
            </a:pPr>
            <a:r>
              <a:t>• Reduced time-to-insight by 90%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1003357541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D2D2D"/>
                </a:solidFill>
              </a:defRPr>
            </a:pPr>
            <a:r>
              <a:t>• Measurable ROI on data ops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41908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30051"/>
                </a:solidFill>
              </a:rPr>
              <a:t>6 → 1</a:t>
            </a:r>
            <a:r>
              <a:rPr sz="800" b="0" i="0">
                <a:solidFill>
                  <a:srgbClr val="555555"/>
                </a:solidFill>
              </a:rPr>
              <a:t>  Steward Reduction
(Eli Lilly)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51760" y="641908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90%</a:t>
            </a:r>
            <a:r>
              <a:rPr sz="800" b="0" i="0">
                <a:solidFill>
                  <a:srgbClr val="555555"/>
                </a:solidFill>
              </a:rPr>
              <a:t>  Faster Insights
(Novartis)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0" y="641908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8E5"/>
                </a:solidFill>
              </a:rPr>
              <a:t>70%</a:t>
            </a:r>
            <a:r>
              <a:rPr sz="800" b="0" i="0">
                <a:solidFill>
                  <a:srgbClr val="555555"/>
                </a:solidFill>
              </a:rPr>
              <a:t>  Stewardship Automation
(McKinsey)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06640" y="641908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148C"/>
                </a:solidFill>
              </a:rPr>
              <a:t>40%</a:t>
            </a:r>
            <a:r>
              <a:rPr sz="800" b="0" i="0">
                <a:solidFill>
                  <a:srgbClr val="555555"/>
                </a:solidFill>
              </a:rPr>
              <a:t>  Faster Time-to-Value
(Gartner)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84080" y="641908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A000"/>
                </a:solidFill>
              </a:rPr>
              <a:t>$3.70</a:t>
            </a:r>
            <a:r>
              <a:rPr sz="800" b="0" i="0">
                <a:solidFill>
                  <a:srgbClr val="555555"/>
                </a:solidFill>
              </a:rPr>
              <a:t>  Return per $1
(Industry Avg)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Mapping a Path Forward — Phased Agentic AI Adoption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1005840"/>
            <a:ext cx="2743200" cy="777240"/>
          </a:xfrm>
          <a:prstGeom prst="round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241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</a:defRPr>
            </a:pPr>
            <a: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0241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FFFFFF"/>
                </a:solidFill>
              </a:defRPr>
            </a:pPr>
            <a:r>
              <a:t>Q1-Q2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CCDD"/>
                </a:solidFill>
              </a:defRPr>
            </a:pPr>
            <a:r>
              <a:t>Assess &amp; Prove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874519"/>
            <a:ext cx="2743200" cy="3291840"/>
          </a:xfrm>
          <a:prstGeom prst="roundRect">
            <a:avLst/>
          </a:prstGeom>
          <a:noFill/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965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• Maturity assessment across</a:t>
            </a:r>
            <a:br/>
            <a:r>
              <a:t>all data domains (Level 1-5)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543484749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• POC: agentic entity resolution</a:t>
            </a:r>
            <a:br/>
            <a:r>
              <a:t>on HCP/Customer 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08696753395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• POC: DQ monitoring agent</a:t>
            </a:r>
            <a:br/>
            <a:r>
              <a:t>on top 3 quality dimensions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630450317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• Pilot governance copilot</a:t>
            </a:r>
            <a:br/>
            <a:r>
              <a:t>(NL interface on Collibra)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173933101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• Baseline current metrics:</a:t>
            </a:r>
            <a:br/>
            <a:r>
              <a:t>effort, quality, cost, speed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234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830051"/>
                </a:solidFill>
              </a:defRPr>
            </a:pPr>
            <a: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1005840"/>
            <a:ext cx="2743200" cy="77724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0241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</a:defRPr>
            </a:pPr>
            <a: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0241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FFFFFF"/>
                </a:solidFill>
              </a:defRPr>
            </a:pPr>
            <a:r>
              <a:t>Q3-Q4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325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CCDD"/>
                </a:solidFill>
              </a:defRPr>
            </a:pPr>
            <a:r>
              <a:t>Build &amp; Scale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1874519"/>
            <a:ext cx="2743200" cy="3291840"/>
          </a:xfrm>
          <a:prstGeom prst="roundRect">
            <a:avLst/>
          </a:prstGeom>
          <a:noFill/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1965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• Deploy policy + orchestration</a:t>
            </a:r>
            <a:br/>
            <a:r>
              <a:t>agent layer in production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543484749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• Agentic matching &amp; dedup</a:t>
            </a:r>
            <a:br/>
            <a:r>
              <a:t>across all MDM domains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108696753395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• Autonomous stewardship for</a:t>
            </a:r>
            <a:br/>
            <a:r>
              <a:t>low-risk data changes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1630450317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• Real-time quality dashboards</a:t>
            </a:r>
            <a:br/>
            <a:r>
              <a:t>replace Excel scorecards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2173933101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• OSP model pilot: shift to</a:t>
            </a:r>
            <a:br/>
            <a:r>
              <a:t>outcome-based contracts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234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830051"/>
                </a:solidFill>
              </a:defRPr>
            </a:pPr>
            <a:r>
              <a:t>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1005840"/>
            <a:ext cx="2743200" cy="7772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10241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</a:defRPr>
            </a:pPr>
            <a:r>
              <a:t>PHASE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10241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FFFFFF"/>
                </a:solidFill>
              </a:defRPr>
            </a:pPr>
            <a:r>
              <a:t>H1 2027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1325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CCDD"/>
                </a:solidFill>
              </a:defRPr>
            </a:pPr>
            <a:r>
              <a:t>Optimize &amp; Learn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1874519"/>
            <a:ext cx="2743200" cy="3291840"/>
          </a:xfrm>
          <a:prstGeom prst="roundRect">
            <a:avLst/>
          </a:prstGeom>
          <a:noFill/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1965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• Full 6-phase lifecycle running</a:t>
            </a:r>
            <a:br/>
            <a:r>
              <a:t>(Discover to Fix)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543484749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• Self-healing data pipelines</a:t>
            </a:r>
            <a:br/>
            <a:r>
              <a:t>in production across domains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108696753395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• Knowledge base learns from</a:t>
            </a:r>
            <a:br/>
            <a:r>
              <a:t>steward decisions over 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1630450317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• Continuous compliance</a:t>
            </a:r>
            <a:br/>
            <a:r>
              <a:t>monitoring (real-time)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173933101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• Expand to Material +</a:t>
            </a:r>
            <a:br/>
            <a:r>
              <a:t>Supplier + Site domains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1234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830051"/>
                </a:solidFill>
              </a:defRPr>
            </a:pPr>
            <a:r>
              <a:t>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1005840"/>
            <a:ext cx="2743200" cy="77724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81160" y="10241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</a:defRPr>
            </a:pPr>
            <a:r>
              <a:t>PHASE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10241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FFFFFF"/>
                </a:solidFill>
              </a:defRPr>
            </a:pPr>
            <a:r>
              <a:t>H2 2027+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1325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CCDD"/>
                </a:solidFill>
              </a:defRPr>
            </a:pPr>
            <a:r>
              <a:t>Autonomous Ops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0" y="1874519"/>
            <a:ext cx="2743200" cy="3291840"/>
          </a:xfrm>
          <a:prstGeom prst="roundRect">
            <a:avLst/>
          </a:prstGeom>
          <a:noFill/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1965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• Level 5 maturity across</a:t>
            </a:r>
            <a:br/>
            <a:r>
              <a:t>core data domains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543484749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• Autonomous data operations</a:t>
            </a:r>
            <a:br/>
            <a:r>
              <a:t>with human oversight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108696753395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• Cross-domain intelligent</a:t>
            </a:r>
            <a:br/>
            <a:r>
              <a:t>data harmonization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1630450317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• Industry-leading data</a:t>
            </a:r>
            <a:br/>
            <a:r>
              <a:t>quality and governance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2173933101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D2D2D"/>
                </a:solidFill>
              </a:defRPr>
            </a:pPr>
            <a:r>
              <a:t>• Measurable ROI: $3.70+</a:t>
            </a:r>
            <a:br/>
            <a:r>
              <a:t>return per $1 invested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5349240"/>
            <a:ext cx="12191695" cy="27432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5440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30051"/>
                </a:solidFill>
              </a:defRPr>
            </a:pPr>
            <a:r>
              <a:t>MATURITY PROGRESSION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28600" y="5760720"/>
            <a:ext cx="2194560" cy="457200"/>
          </a:xfrm>
          <a:prstGeom prst="round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8600" y="577900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555555"/>
                </a:solidFill>
              </a:defRPr>
            </a:pPr>
            <a:r>
              <a:t>Level 2-3: Current State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40280" y="5806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830051"/>
                </a:solidFill>
              </a:defRPr>
            </a:pPr>
            <a:r>
              <a:t>▶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06040" y="5760720"/>
            <a:ext cx="2194560" cy="4572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06040" y="577900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</a:defRPr>
            </a:pPr>
            <a:r>
              <a:t>Level 3: After Phase 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17720" y="5806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830051"/>
                </a:solidFill>
              </a:defRPr>
            </a:pPr>
            <a:r>
              <a:t>▶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983480" y="5760720"/>
            <a:ext cx="2194560" cy="4572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83480" y="577900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</a:defRPr>
            </a:pPr>
            <a:r>
              <a:t>Level 3-4: After Phase 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95160" y="5806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830051"/>
                </a:solidFill>
              </a:defRPr>
            </a:pPr>
            <a:r>
              <a:t>▶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60920" y="5760720"/>
            <a:ext cx="2194560" cy="45720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60920" y="577900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</a:defRPr>
            </a:pPr>
            <a:r>
              <a:t>Level 4-5: After Phase 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72600" y="5806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830051"/>
                </a:solidFill>
              </a:defRPr>
            </a:pPr>
            <a:r>
              <a:t>▶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738360" y="5760720"/>
            <a:ext cx="2194560" cy="457200"/>
          </a:xfrm>
          <a:prstGeom prst="round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38360" y="577900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</a:defRPr>
            </a:pPr>
            <a:r>
              <a:t>Level 5: Agentic (Target)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355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30051"/>
                </a:solidFill>
              </a:defRPr>
            </a:pPr>
            <a:r>
              <a:t>GUIDING PRINCIPLES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74320" y="6583680"/>
            <a:ext cx="2743200" cy="36576"/>
          </a:xfrm>
          <a:prstGeom prst="round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66294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30051"/>
                </a:solidFill>
              </a:rPr>
              <a:t>Augment, Don't Replace: </a:t>
            </a:r>
            <a:r>
              <a:rPr sz="800" b="0" i="0">
                <a:solidFill>
                  <a:srgbClr val="2D2D2D"/>
                </a:solidFill>
              </a:rPr>
              <a:t>Informatica, SAP MDG, Collibra stay. Agentic layer on top. Human oversight always.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246120" y="6583680"/>
            <a:ext cx="2743200" cy="3657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46120" y="66294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</a:rPr>
              <a:t>Start Small, Prove Value: </a:t>
            </a:r>
            <a:r>
              <a:rPr sz="800" b="0" i="0">
                <a:solidFill>
                  <a:srgbClr val="2D2D2D"/>
                </a:solidFill>
              </a:rPr>
              <a:t>Follow Lilly/Novartis: prove ROI on one domain first, then scale. No big bang.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17920" y="6583680"/>
            <a:ext cx="2743200" cy="36576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17920" y="66294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88E5"/>
                </a:solidFill>
              </a:rPr>
              <a:t>Govern the Agents: </a:t>
            </a:r>
            <a:r>
              <a:rPr sz="800" b="0" i="0">
                <a:solidFill>
                  <a:srgbClr val="2D2D2D"/>
                </a:solidFill>
              </a:rPr>
              <a:t>Agentic AI must itself be governed. Audit trails, explainability, compliance.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189720" y="6583680"/>
            <a:ext cx="2743200" cy="36576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89720" y="66294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148C"/>
                </a:solidFill>
              </a:rPr>
              <a:t>People &amp; Change First: </a:t>
            </a:r>
            <a:r>
              <a:rPr sz="800" b="0" i="0">
                <a:solidFill>
                  <a:srgbClr val="2D2D2D"/>
                </a:solidFill>
              </a:rPr>
              <a:t>60% of success is change management. Stewards become strategists. OSPs become partners.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