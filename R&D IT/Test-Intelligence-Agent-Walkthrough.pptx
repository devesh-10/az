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830051"/>
                </a:solidFill>
              </a:rPr>
              <a:t>Test Intelligence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555555"/>
                </a:solidFill>
              </a:defRPr>
            </a:pPr>
            <a:r>
              <a:t>How AI Agents Automate Testing for R&amp;D Platforms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4A000"/>
                </a:solidFill>
              </a:defRPr>
            </a:pPr>
            <a:r>
              <a:t>A Real-Life Walkthrough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32F2F"/>
                </a:solidFill>
              </a:defRPr>
            </a:pPr>
            <a:r>
              <a:t>TODAY — Manual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QA engineer reads requirement docs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Manually writes test cases in Excel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Creates test data by hand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Runs tests, documents results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Writes compliance report for audit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D32F2F"/>
                </a:solidFill>
              </a:defRPr>
            </a:pPr>
            <a:r>
              <a:t>~2 weeks per release 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931920"/>
            <a:ext cx="5120640" cy="2286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023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7D32"/>
                </a:solidFill>
              </a:defRPr>
            </a:pPr>
            <a:r>
              <a:t>WITH AGENT — AI-Powered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389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QA engineer types one sentence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Agent reads specs automatically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Agent generates test cases + data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Agent runs tests, finds bugs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Agent writes compliance report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2E7D32"/>
                </a:solidFill>
              </a:defRPr>
            </a:pPr>
            <a:r>
              <a:t>~5 minutes, same quality</a:t>
            </a:r>
          </a:p>
        </p:txBody>
      </p:sp>
      <p:sp>
        <p:nvSpPr>
          <p:cNvPr id="14" name="Oval 13"/>
          <p:cNvSpPr/>
          <p:nvPr/>
        </p:nvSpPr>
        <p:spPr>
          <a:xfrm>
            <a:off x="5577840" y="4709160"/>
            <a:ext cx="548640" cy="548640"/>
          </a:xfrm>
          <a:prstGeom prst="ellipse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4800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55555"/>
                </a:solidFill>
              </a:defRPr>
            </a:pPr>
            <a: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Test Intelligence Agent — Complete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1">
                <a:solidFill>
                  <a:srgbClr val="FFCCDD"/>
                </a:solidFill>
              </a:defRPr>
            </a:pPr>
            <a:r>
              <a:t>Real-Life Example: Patient Safety — Adverse Event Reporting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658368"/>
            <a:ext cx="411480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6858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2D2D2D"/>
                </a:solidFill>
              </a:defRPr>
            </a:pPr>
            <a:r>
              <a:t>QA Engineer: "Test adverse event reporting for Patient Safety"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02412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830051"/>
                </a:solidFill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207008"/>
            <a:ext cx="4114800" cy="45720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21615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39903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FFCCDD"/>
                </a:solidFill>
              </a:defRPr>
            </a:pPr>
            <a:r>
              <a:t>Platform: Patient Safety  |  Feature: Adverse Event  |  Action: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642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830051"/>
                </a:solidFill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828800"/>
            <a:ext cx="4114800" cy="5943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8470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</a:defRPr>
            </a:pPr>
            <a:r>
              <a:t>STEP 1  REQUIREMENT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0299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</a:defRPr>
            </a:pPr>
            <a:r>
              <a:t>Reads specs automatically. Output: 4 mandatory fields</a:t>
            </a:r>
            <a:br/>
            <a:r>
              <a:t>(Patient ID, Drug, Severity, Description). Severity = enum.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920240"/>
            <a:ext cx="1188720" cy="228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1920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30s vs 3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2316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830051"/>
                </a:solidFill>
              </a:defRPr>
            </a:pPr>
            <a: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578608"/>
            <a:ext cx="4114800" cy="594360"/>
          </a:xfrm>
          <a:prstGeom prst="round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596896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</a:defRPr>
            </a:pPr>
            <a:r>
              <a:t>STEP 2  TEST CASE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77977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</a:defRPr>
            </a:pPr>
            <a:r>
              <a:t>TC1: Valid event  TC2: Missing ID  TC3: Invalid severity</a:t>
            </a:r>
            <a:br/>
            <a:r>
              <a:t>TC4: Duplicate  TC5: Special chars  TC6: Bad patient 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2670048"/>
            <a:ext cx="1188720" cy="228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6700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30s vs 3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17296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830051"/>
                </a:solidFill>
              </a:defRPr>
            </a:pPr>
            <a: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337560"/>
            <a:ext cx="2743200" cy="3200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C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3649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A000"/>
                </a:solidFill>
              </a:defRPr>
            </a:pPr>
            <a:r>
              <a:t>DECISION: Need test data?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63931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C4A000"/>
                </a:solidFill>
              </a:defRPr>
            </a:pPr>
            <a:r>
              <a:t>YES 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383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555555"/>
                </a:solidFill>
              </a:defRPr>
            </a:pPr>
            <a:r>
              <a:t>NO ►  Skip to Step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3822191"/>
            <a:ext cx="4114800" cy="457200"/>
          </a:xfrm>
          <a:prstGeom prst="round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3840479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</a:defRPr>
            </a:pPr>
            <a:r>
              <a:t>STEP 3  SYNTHETIC DATA AGENT  (if needed)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032503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</a:defRPr>
            </a:pPr>
            <a:r>
              <a:t>Patient: PAT-2847  |  Drug: Tagrisso  |  Severity: Serious  (fake, schema-valid)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3913631"/>
            <a:ext cx="1188720" cy="228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391363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15s vs 1 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27939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830051"/>
                </a:solidFill>
              </a:defRPr>
            </a:pPr>
            <a:r>
              <a:t>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4443984"/>
            <a:ext cx="4114800" cy="45720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44622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</a:defRPr>
            </a:pPr>
            <a:r>
              <a:t>STEP 4  EXECUTION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65429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</a:defRPr>
            </a:pPr>
            <a:r>
              <a:t>TC1: PASS  TC2: PASS  TC3: FAIL  TC4: PASS  TC5: PASS  TC6: PASS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4535424"/>
            <a:ext cx="1188720" cy="228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45354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2 min vs 2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90118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830051"/>
                </a:solidFill>
              </a:defRPr>
            </a:pPr>
            <a:r>
              <a:t>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5047488"/>
            <a:ext cx="2743200" cy="3200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C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A000"/>
                </a:solidFill>
              </a:defRPr>
            </a:pPr>
            <a:r>
              <a:t>DECISION: All tests pass?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0932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E7D32"/>
                </a:solidFill>
              </a:defRPr>
            </a:pPr>
            <a:r>
              <a:t>YES ►  Skip to Step 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35838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D32F2F"/>
                </a:solidFill>
              </a:defRPr>
            </a:pPr>
            <a:r>
              <a:t>NO 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0" y="5522976"/>
            <a:ext cx="4114800" cy="45720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554126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</a:defRPr>
            </a:pPr>
            <a:r>
              <a:t>STEP 5  FAILURE ANALYSIS  (if tests fail)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34640" y="573328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</a:defRPr>
            </a:pPr>
            <a:r>
              <a:t>TC3: No severity validation — accepts any string. ROOT CAUSE: Code bug. RISK: Regulatory!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598017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830051"/>
                </a:solidFill>
              </a:defRPr>
            </a:pPr>
            <a:r>
              <a:t>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29000" y="6126480"/>
            <a:ext cx="1645920" cy="292608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C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0440" y="615391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C4A000"/>
                </a:solidFill>
              </a:defRPr>
            </a:pPr>
            <a:r>
              <a:t>Code or test bug?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61630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D32F2F"/>
                </a:solidFill>
              </a:defRPr>
            </a:pPr>
            <a:r>
              <a:t>CODE BUG 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0" y="6108192"/>
            <a:ext cx="1645920" cy="329184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89320" y="6126480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STEP 6  CODE REFACTOR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6272784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FFFFFF"/>
                </a:solidFill>
              </a:defRPr>
            </a:pPr>
            <a:r>
              <a:t>Suggest fix → re-run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88920" y="6172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1E88E5"/>
                </a:solidFill>
              </a:defRPr>
            </a:pPr>
            <a:r>
              <a:t>TEST BUG → Fix test, re-run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03920" y="658368"/>
            <a:ext cx="3474720" cy="21945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503920" y="658368"/>
            <a:ext cx="3474720" cy="2926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95360" y="6766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</a:defRPr>
            </a:pPr>
            <a:r>
              <a:t>STEP 7  REPORTING AGENT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7665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FFFFFF"/>
                </a:solidFill>
              </a:defRPr>
            </a:pPr>
            <a:r>
              <a:t>(always runs at end)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41080" y="987552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2E7D32"/>
                </a:solidFill>
              </a:defRPr>
            </a:pPr>
            <a:r>
              <a:t>TEST EVIDENCE REPORT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D2D2D"/>
                </a:solidFill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D2D2D"/>
                </a:solidFill>
              </a:defRPr>
            </a:pPr>
            <a:r>
              <a:t>Platform:    Patient Safety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E7D32"/>
                </a:solidFill>
              </a:defRPr>
            </a:pPr>
            <a:r>
              <a:t>Tests:         6 generated, 6/6 passed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D32F2F"/>
                </a:solidFill>
              </a:defRPr>
            </a:pPr>
            <a:r>
              <a:t>Bug Found:  Severity validation missing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D32F2F"/>
                </a:solidFill>
              </a:defRPr>
            </a:pPr>
            <a:r>
              <a:t>Risk:          HIGH — Regulatory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E7D32"/>
                </a:solidFill>
              </a:defRPr>
            </a:pPr>
            <a:r>
              <a:t>Fix:            Enum validation added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E7D32"/>
                </a:solidFill>
              </a:defRPr>
            </a:pPr>
            <a:r>
              <a:t>Compliance: GxP audit trail ready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D2D2D"/>
                </a:solidFill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830051"/>
                </a:solidFill>
              </a:defRPr>
            </a:pPr>
            <a:r>
              <a:t>Time: 4 min 32 sec (zero human effort)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28529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830051"/>
                </a:solidFill>
              </a:defRPr>
            </a:pPr>
            <a:r>
              <a:t>▼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03920" y="3017520"/>
            <a:ext cx="3474720" cy="256032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5360" y="30175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THE BOTTOM LINE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8503920" y="3273552"/>
          <a:ext cx="34747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188720"/>
              </a:tblGrid>
              <a:tr h="24003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With Agent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</a:defRPr>
                      </a:pPr>
                      <a:r>
                        <a:t>Read specs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D32F2F"/>
                          </a:solidFill>
                        </a:defRPr>
                      </a:pPr>
                      <a:r>
                        <a:t>3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E7D32"/>
                          </a:solidFill>
                        </a:defRPr>
                      </a:pPr>
                      <a:r>
                        <a:t>30 sec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</a:defRPr>
                      </a:pPr>
                      <a:r>
                        <a:t>Write test cases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D32F2F"/>
                          </a:solidFill>
                        </a:defRPr>
                      </a:pPr>
                      <a:r>
                        <a:t>3 days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E7D32"/>
                          </a:solidFill>
                        </a:defRPr>
                      </a:pPr>
                      <a:r>
                        <a:t>30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</a:defRPr>
                      </a:pPr>
                      <a:r>
                        <a:t>Create test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D32F2F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E7D32"/>
                          </a:solidFill>
                        </a:defRPr>
                      </a:pPr>
                      <a:r>
                        <a:t>15 sec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</a:defRPr>
                      </a:pPr>
                      <a:r>
                        <a:t>Run tests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D32F2F"/>
                          </a:solidFill>
                        </a:defRPr>
                      </a:pPr>
                      <a:r>
                        <a:t>2 days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E7D32"/>
                          </a:solidFill>
                        </a:defRPr>
                      </a:pPr>
                      <a:r>
                        <a:t>2 min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</a:defRPr>
                      </a:pPr>
                      <a:r>
                        <a:t>Investigate failures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D32F2F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E7D32"/>
                          </a:solidFill>
                        </a:defRPr>
                      </a:pPr>
                      <a:r>
                        <a:t>30 sec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</a:defRPr>
                      </a:pPr>
                      <a:r>
                        <a:t>Write report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D32F2F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E7D32"/>
                          </a:solidFill>
                        </a:defRPr>
                      </a:pPr>
                      <a:r>
                        <a:t>15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D2D2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32F2F"/>
                          </a:solidFill>
                        </a:defRPr>
                      </a:pPr>
                      <a:r>
                        <a:t>~2 weeks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~5 min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8503920" y="5285232"/>
            <a:ext cx="3474720" cy="73152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95360" y="53035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D32F2F"/>
                </a:solidFill>
              </a:defRPr>
            </a:pPr>
            <a:r>
              <a:t>WITHOUT AGENT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5486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D2D2D"/>
                </a:solidFill>
              </a:defRPr>
            </a:pPr>
            <a:r>
              <a:t>Bug found during FDA audit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D32F2F"/>
                </a:solidFill>
              </a:defRPr>
            </a:pPr>
            <a:r>
              <a:t>Submission delayed by months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03920" y="6053328"/>
            <a:ext cx="3474720" cy="7315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95360" y="607161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E7D32"/>
                </a:solidFill>
              </a:defRPr>
            </a:pPr>
            <a:r>
              <a:t>WITH AGENT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95360" y="625449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D2D2D"/>
                </a:solidFill>
              </a:defRPr>
            </a:pPr>
            <a:r>
              <a:t>Bug caught in 5 minutes, fix suggested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2E7D32"/>
                </a:solidFill>
              </a:defRPr>
            </a:pPr>
            <a:r>
              <a:t>Zero delay, audit-ready from day one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68880" y="1828800"/>
            <a:ext cx="54864" cy="1344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468880" y="4443984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45920" y="214884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1" i="0">
                <a:solidFill>
                  <a:srgbClr val="2E7D32"/>
                </a:solidFill>
              </a:defRPr>
            </a:pPr>
            <a:r>
              <a:t>ALWAYS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455371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1" i="0">
                <a:solidFill>
                  <a:srgbClr val="2E7D32"/>
                </a:solidFill>
              </a:defRPr>
            </a:pPr>
            <a:r>
              <a:t>ALWAYS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68880" y="3822191"/>
            <a:ext cx="54864" cy="457200"/>
          </a:xfrm>
          <a:prstGeom prst="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468880" y="5522976"/>
            <a:ext cx="54864" cy="896112"/>
          </a:xfrm>
          <a:prstGeom prst="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645920" y="385876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1" i="0">
                <a:solidFill>
                  <a:srgbClr val="C4A000"/>
                </a:solidFill>
              </a:defRPr>
            </a:pPr>
            <a:r>
              <a:t>IF</a:t>
            </a:r>
            <a:br/>
            <a:r>
              <a:t>NEEDED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45920" y="56692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1" i="0">
                <a:solidFill>
                  <a:srgbClr val="C4A000"/>
                </a:solidFill>
              </a:defRPr>
            </a:pPr>
            <a:r>
              <a:t>IF</a:t>
            </a:r>
            <a:br/>
            <a:r>
              <a:t>NEEDED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71323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2E7D32"/>
                </a:solidFill>
              </a:defRPr>
            </a:pPr>
            <a:r>
              <a:t>ALWAYS 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55555"/>
                </a:solidFill>
              </a:defRPr>
            </a:pPr>
            <a: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30051"/>
                </a:solidFill>
              </a:defRPr>
            </a:pPr>
            <a:r>
              <a:t>TIME COMPARISON — Per Release Cycle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737360"/>
                <a:gridCol w="2194560"/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Without Agent</a:t>
                      </a:r>
                    </a:p>
                  </a:txBody>
                  <a:tcPr anchor="ctr"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With Agent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Read specs &amp; understand requirements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32F2F"/>
                          </a:solidFill>
                        </a:defRPr>
                      </a:pPr>
                      <a:r>
                        <a:t>3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7D32"/>
                          </a:solidFill>
                        </a:defRPr>
                      </a:pPr>
                      <a:r>
                        <a:t>30 seconds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Write test cases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32F2F"/>
                          </a:solidFill>
                        </a:defRPr>
                      </a:pPr>
                      <a:r>
                        <a:t>3 days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7D32"/>
                          </a:solidFill>
                        </a:defRPr>
                      </a:pPr>
                      <a:r>
                        <a:t>30 seconds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Create test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32F2F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7D32"/>
                          </a:solidFill>
                        </a:defRPr>
                      </a:pPr>
                      <a:r>
                        <a:t>15 seconds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Run tests &amp; document results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32F2F"/>
                          </a:solidFill>
                        </a:defRPr>
                      </a:pPr>
                      <a:r>
                        <a:t>2 days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7D32"/>
                          </a:solidFill>
                        </a:defRPr>
                      </a:pPr>
                      <a:r>
                        <a:t>2 minutes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Investigate failures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32F2F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7D32"/>
                          </a:solidFill>
                        </a:defRPr>
                      </a:pPr>
                      <a:r>
                        <a:t>30 seconds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Write compliance report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32F2F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7D32"/>
                          </a:solidFill>
                        </a:defRPr>
                      </a:pPr>
                      <a:r>
                        <a:t>15 seconds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D2D2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32F2F"/>
                          </a:solidFill>
                        </a:defRPr>
                      </a:pPr>
                      <a:r>
                        <a:t>~2 weeks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</a:defRPr>
                      </a:pPr>
                      <a:r>
                        <a:t>~5 minutes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77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30051"/>
                </a:solidFill>
              </a:defRPr>
            </a:pPr>
            <a:r>
              <a:t>BUSINESS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143000"/>
            <a:ext cx="3931920" cy="91440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18872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CCDD"/>
                </a:solidFill>
              </a:defRPr>
            </a:pPr>
            <a:r>
              <a:t>REGULATORY RISK PREVENTION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4630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</a:defRPr>
            </a:pPr>
            <a:r>
              <a:t>Catches compliance gaps that humans miss.</a:t>
            </a:r>
            <a:br/>
            <a:r>
              <a:t>One finding during FDA audit can delay</a:t>
            </a:r>
            <a:br/>
            <a:r>
              <a:t>submission by months.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148840"/>
            <a:ext cx="3931920" cy="8229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1945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</a:defRPr>
            </a:pPr>
            <a:r>
              <a:t>TESTING EFFORT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68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</a:defRPr>
            </a:pPr>
            <a:r>
              <a:t>QA engineers focus on strategy &amp; review</a:t>
            </a:r>
            <a:br/>
            <a:r>
              <a:t>instead of repetitive manual execution.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063240"/>
            <a:ext cx="3931920" cy="8229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1089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</a:defRPr>
            </a:pPr>
            <a:r>
              <a:t>FASTER RELEASE CYCLES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383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</a:defRPr>
            </a:pPr>
            <a:r>
              <a:t>2 weeks → 5 minutes per cycle.</a:t>
            </a:r>
            <a:br/>
            <a:r>
              <a:t>Multiply across 9 R&amp;D platforms.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160520"/>
            <a:ext cx="12191695" cy="27432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4434840"/>
            <a:ext cx="5486400" cy="210312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32F2F"/>
                </a:solidFill>
              </a:defRPr>
            </a:pPr>
            <a:r>
              <a:t>WITHOUT THE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Missing severity validation goes undetected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Found 3 weeks later during manual QA review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Or worse — found during FDA audit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D32F2F"/>
                </a:solidFill>
              </a:defRPr>
            </a:pPr>
            <a:r>
              <a:t>Result: Submission delayed by months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434840"/>
            <a:ext cx="5486400" cy="21031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526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7D32"/>
                </a:solidFill>
              </a:defRPr>
            </a:pPr>
            <a:r>
              <a:t>WITH THE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920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Agent catches missing validation in 5 minutes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Fix is suggested immediately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  <a:r>
              <a:t>Compliance evidence auto-generated for audit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D2D2D"/>
                </a:solidFill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2E7D32"/>
                </a:solidFill>
              </a:defRPr>
            </a:pPr>
            <a:r>
              <a:t>Result: Zero delay, audit-ready from day one</a:t>
            </a:r>
          </a:p>
        </p:txBody>
      </p:sp>
      <p:sp>
        <p:nvSpPr>
          <p:cNvPr id="23" name="Oval 22"/>
          <p:cNvSpPr/>
          <p:nvPr/>
        </p:nvSpPr>
        <p:spPr>
          <a:xfrm>
            <a:off x="5715000" y="5074920"/>
            <a:ext cx="502920" cy="502920"/>
          </a:xfrm>
          <a:prstGeom prst="ellipse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5148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55555"/>
                </a:solidFill>
              </a:defRPr>
            </a:pPr>
            <a: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