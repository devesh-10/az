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for AI </a:t>
            </a:r>
            <a:r>
              <a:rPr sz="2600" b="0" i="0">
                <a:solidFill>
                  <a:srgbClr val="FFFFFF"/>
                </a:solidFill>
              </a:rPr>
              <a:t>approach for delivery with AI Engineering in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FFCCDD"/>
                </a:solidFill>
              </a:defRPr>
            </a:pPr>
            <a:r>
              <a:t>Leveraging an AI-first &amp; Agentic approach to build the Test Intelligence Agent across End-to-End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5394960" cy="544068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2D2D"/>
                </a:solidFill>
              </a:defRPr>
            </a:pPr>
            <a:r>
              <a:t>Today: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90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830051"/>
                </a:solidFill>
              </a:rPr>
              <a:t>Traditional delivery: </a:t>
            </a:r>
            <a:r>
              <a:rPr sz="900" b="0" i="1">
                <a:solidFill>
                  <a:srgbClr val="830051"/>
                </a:solidFill>
              </a:rPr>
              <a:t>precision through Process, progress through People i.e. </a:t>
            </a:r>
            <a:r>
              <a:rPr sz="900" b="1" i="1">
                <a:solidFill>
                  <a:srgbClr val="830051"/>
                </a:solidFill>
              </a:rPr>
              <a:t>'Human centric'</a:t>
            </a:r>
            <a:r>
              <a:rPr sz="900" b="0" i="1">
                <a:solidFill>
                  <a:srgbClr val="830051"/>
                </a:solidFill>
              </a:rPr>
              <a:t> delivery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64008" cy="4160520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37160" y="329184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A000"/>
                </a:solidFill>
              </a:defRPr>
            </a:pPr>
            <a:r>
              <a:t>16-20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914400" cy="914400"/>
          </a:xfrm>
          <a:prstGeom prst="round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2D2D2D"/>
                </a:solidFill>
              </a:defRPr>
            </a:pPr>
            <a:r>
              <a:t>4-6</a:t>
            </a:r>
            <a:br/>
            <a:r>
              <a:t>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2860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A000"/>
                </a:solidFill>
              </a:defRPr>
            </a:pPr>
            <a:r>
              <a:t>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011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2D2D2D"/>
                </a:solidFill>
              </a:defRPr>
            </a:pPr>
            <a:r>
              <a:t>Manual wireframes in PowerPoint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or static screenshots emailed around for feedback.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Requirements hand-typed into Confluence 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40-60 page BRDs that nobody reads end-to-end.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555555"/>
                </a:solidFill>
              </a:defRPr>
            </a:pPr>
            <a:r>
              <a:t>Jira stories written manually, 3-hour grooming.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2880360"/>
            <a:ext cx="18288" cy="109728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990088"/>
            <a:ext cx="914400" cy="914400"/>
          </a:xfrm>
          <a:prstGeom prst="round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18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2D2D2D"/>
                </a:solidFill>
              </a:defRPr>
            </a:pPr>
            <a:r>
              <a:t>8-9</a:t>
            </a:r>
            <a:br/>
            <a:r>
              <a:t>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3101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A000"/>
                </a:solidFill>
              </a:defRPr>
            </a:pPr>
            <a:r>
              <a:t>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03580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2D2D2D"/>
                </a:solidFill>
              </a:defRPr>
            </a:pPr>
            <a:r>
              <a:t>Manual coding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, line by line. Developers spend 40%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of time searching Stack Overflow.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PRs sit for 5-10 days waiting for review.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555555"/>
                </a:solidFill>
              </a:defRPr>
            </a:pPr>
            <a:r>
              <a:t>New devs take 3-6 months to onboard.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3904488"/>
            <a:ext cx="18288" cy="109728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014216"/>
            <a:ext cx="914400" cy="914400"/>
          </a:xfrm>
          <a:prstGeom prst="round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885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428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2D2D2D"/>
                </a:solidFill>
              </a:defRPr>
            </a:pPr>
            <a:r>
              <a:t>3-4</a:t>
            </a:r>
            <a:br/>
            <a:r>
              <a:t>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33425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A000"/>
                </a:solidFill>
              </a:defRPr>
            </a:pPr>
            <a:r>
              <a:t>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05993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2D2D2D"/>
                </a:solidFill>
              </a:defRPr>
            </a:pPr>
            <a:r>
              <a:t>Test cases in Excel spreadsheets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 — 500-2,000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rows manually written and updated.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Manual regression: 100+ scenarios by hand.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555555"/>
                </a:solidFill>
              </a:defRPr>
            </a:pPr>
            <a:r>
              <a:t>GxP validation docs take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" y="4928616"/>
            <a:ext cx="18288" cy="109728"/>
          </a:xfrm>
          <a:prstGeom prst="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038344"/>
            <a:ext cx="914400" cy="914400"/>
          </a:xfrm>
          <a:prstGeom prst="roundRect">
            <a:avLst/>
          </a:prstGeom>
          <a:solidFill>
            <a:srgbClr val="C4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12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266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2D2D2D"/>
                </a:solidFill>
              </a:defRPr>
            </a:pPr>
            <a:r>
              <a:t>1-2</a:t>
            </a:r>
            <a:br/>
            <a:r>
              <a:t>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35838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A000"/>
                </a:solidFill>
              </a:defRPr>
            </a:pPr>
            <a:r>
              <a:t>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0840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2D2D2D"/>
                </a:solidFill>
              </a:defRPr>
            </a:pPr>
            <a:r>
              <a:t>Manual change requests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 in ServiceNow.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Weekly CAB meetings gate all deployments.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2D2D2D"/>
                </a:solidFill>
              </a:defRPr>
            </a:pPr>
            <a:r>
              <a:t>20-page deployment runbooks executed by hand.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0">
                <a:solidFill>
                  <a:srgbClr val="555555"/>
                </a:solidFill>
              </a:defRPr>
            </a:pPr>
            <a:r>
              <a:t>Post-deploy: stare at dashboards for an hour.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6172200"/>
            <a:ext cx="5120640" cy="32004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199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D2D2D"/>
                </a:solidFill>
              </a:defRPr>
            </a:pPr>
            <a:r>
              <a:t>Siloed Change Management &amp; end user adoption achieved over a period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669280" y="3200400"/>
            <a:ext cx="411480" cy="640080"/>
          </a:xfrm>
          <a:prstGeom prst="rightArrow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143000"/>
            <a:ext cx="4160520" cy="5440680"/>
          </a:xfrm>
          <a:prstGeom prst="rect">
            <a:avLst/>
          </a:prstGeom>
          <a:solidFill>
            <a:srgbClr val="FAF9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2D2D"/>
                </a:solidFill>
              </a:defRPr>
            </a:pPr>
            <a:r>
              <a:t>Tomorrow: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49047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830051"/>
                </a:solidFill>
              </a:rPr>
              <a:t>Agentic AI-powered delivery</a:t>
            </a:r>
            <a:r>
              <a:rPr sz="900" b="0" i="1">
                <a:solidFill>
                  <a:srgbClr val="830051"/>
                </a:solidFill>
              </a:rPr>
              <a:t>, accelerating and redefining future ways of delivering AI projects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1920240"/>
            <a:ext cx="64008" cy="3337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283464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2E7D32"/>
                </a:solidFill>
              </a:defRPr>
            </a:pPr>
            <a:r>
              <a:t>6-10</a:t>
            </a:r>
            <a:br/>
            <a:r>
              <a:t>weeks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1965960"/>
            <a:ext cx="777240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1671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2632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2D2D2D"/>
                </a:solidFill>
              </a:defRPr>
            </a:pPr>
            <a:r>
              <a:t>1-2</a:t>
            </a:r>
            <a:br/>
            <a:r>
              <a:t>weeks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8392" y="222199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E7D32"/>
                </a:solidFill>
              </a:defRPr>
            </a:pPr>
            <a:r>
              <a:t>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201168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2D2D2D"/>
                </a:solidFill>
              </a:defRPr>
            </a:pPr>
            <a:r>
              <a:t>Front-end built via Claude / Replit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 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type a prompt, get a working UI.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No PowerPoint mockups needed.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20" y="2715768"/>
            <a:ext cx="18288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37960" y="2807208"/>
            <a:ext cx="777240" cy="749808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300837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2" y="2990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2D2D2D"/>
                </a:solidFill>
              </a:defRPr>
            </a:pPr>
            <a:r>
              <a:t>3-4</a:t>
            </a:r>
            <a:br/>
            <a:r>
              <a:t>weeks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08392" y="3063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E88E5"/>
                </a:solidFill>
              </a:defRPr>
            </a:pPr>
            <a:r>
              <a:t>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1272" y="285292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2D2D2D"/>
                </a:solidFill>
              </a:defRPr>
            </a:pPr>
            <a:r>
              <a:t>Claude Code + GitHub Copilot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 generate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code. Agents on Bedrock + Agent Mesh.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PRs reviewed in hours, not days.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3557016"/>
            <a:ext cx="18288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37960" y="3648456"/>
            <a:ext cx="777240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84962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42632" y="3831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2D2D2D"/>
                </a:solidFill>
              </a:defRPr>
            </a:pPr>
            <a:r>
              <a:t>1-2</a:t>
            </a:r>
            <a:br/>
            <a:r>
              <a:t>weeks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8392" y="39044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E7D32"/>
                </a:solidFill>
              </a:defRPr>
            </a:pPr>
            <a:r>
              <a:t>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91272" y="3694176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2D2D2D"/>
                </a:solidFill>
              </a:defRPr>
            </a:pPr>
            <a:r>
              <a:t>AI generates test cases from 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 — no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more Excel. Auto-healing tests.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GxP evidence auto-generated.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03720" y="4398264"/>
            <a:ext cx="18288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37960" y="4489704"/>
            <a:ext cx="777240" cy="749808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46908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42632" y="4672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2D2D2D"/>
                </a:solidFill>
              </a:defRPr>
            </a:pPr>
            <a:r>
              <a:t>0-1</a:t>
            </a:r>
            <a:br/>
            <a:r>
              <a:t>weeks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08392" y="474573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9800"/>
                </a:solidFill>
              </a:defRPr>
            </a:pPr>
            <a:r>
              <a:t>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453542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2D2D2D"/>
                </a:solidFill>
              </a:defRPr>
            </a:pPr>
            <a:r>
              <a:t>Automated via GitHub Actions.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D2D2D"/>
                </a:solidFill>
              </a:defRPr>
            </a:pPr>
            <a:r>
              <a:t>Datadog monitoring from day one.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 b="0">
                <a:solidFill>
                  <a:srgbClr val="2E7D32"/>
                </a:solidFill>
              </a:defRPr>
            </a:pPr>
            <a:r>
              <a:t>Agent validates deployed solution.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37960" y="5349240"/>
            <a:ext cx="77724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56248" y="5413248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2D2D2D"/>
                </a:solidFill>
              </a:defRPr>
            </a:pPr>
            <a:r>
              <a:t>Enhance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34072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2D2D2D"/>
                </a:solidFill>
              </a:defRPr>
            </a:pPr>
            <a:r>
              <a:t>Faster feature builds and change release cycles via Claude Code + continuous agent learning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6172200"/>
            <a:ext cx="388620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61996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AI-powered delivery with ready organization redesign — future ready from day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78440" y="1143000"/>
            <a:ext cx="1691640" cy="5440680"/>
          </a:xfrm>
          <a:prstGeom prst="rect">
            <a:avLst/>
          </a:prstGeom>
          <a:noFill/>
          <a:ln w="1905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24160" y="12161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830051"/>
                </a:solidFill>
              </a:defRPr>
            </a:pPr>
            <a:r>
              <a:t>AI for AI Delivery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14630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55555"/>
                </a:solidFill>
              </a:defRPr>
            </a:pPr>
            <a:r>
              <a:t>Move away from manual tools</a:t>
            </a:r>
            <a:br/>
            <a:r>
              <a:t>and accelerate through AI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451592" y="1920240"/>
            <a:ext cx="36576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43032" y="187452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555555"/>
                </a:solidFill>
              </a:defRPr>
            </a:pPr>
            <a:r>
              <a:t>AI tools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43032" y="2039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830051"/>
                </a:solidFill>
              </a:defRPr>
            </a:pPr>
            <a:r>
              <a:t>Replit  |  Claude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43032" y="237744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555555"/>
                </a:solidFill>
              </a:defRPr>
            </a:pPr>
            <a:r>
              <a:t>Prompt-to-UI. No more</a:t>
            </a:r>
            <a:br/>
            <a:r>
              <a:t>PowerPoint wireframes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69880" y="2734056"/>
            <a:ext cx="150876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451592" y="2834640"/>
            <a:ext cx="36576" cy="74980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43032" y="278892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555555"/>
                </a:solidFill>
              </a:defRPr>
            </a:pPr>
            <a:r>
              <a:t>AI tools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43032" y="29535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830051"/>
                </a:solidFill>
              </a:defRPr>
            </a:pPr>
            <a:r>
              <a:t>GitHub Copilot</a:t>
            </a:r>
            <a:br/>
            <a:r>
              <a:t>Claude Code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43032" y="329184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555555"/>
                </a:solidFill>
              </a:defRPr>
            </a:pPr>
            <a:r>
              <a:t>46% of code AI-generated.</a:t>
            </a:r>
            <a:br/>
            <a:r>
              <a:t>PRs in hours, not days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69880" y="3648456"/>
            <a:ext cx="150876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451592" y="3749040"/>
            <a:ext cx="36576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43032" y="370332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555555"/>
                </a:solidFill>
              </a:defRPr>
            </a:pPr>
            <a:r>
              <a:t>AI tools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43032" y="38679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830051"/>
                </a:solidFill>
              </a:defRPr>
            </a:pPr>
            <a:r>
              <a:t>TestSigma</a:t>
            </a:r>
            <a:br/>
            <a:r>
              <a:t>Test Agent (self-test)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43032" y="420624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555555"/>
                </a:solidFill>
              </a:defRPr>
            </a:pPr>
            <a:r>
              <a:t>No more Excel test cases.</a:t>
            </a:r>
            <a:br/>
            <a:r>
              <a:t>AI generates from Jira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69880" y="4562856"/>
            <a:ext cx="150876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51592" y="4663440"/>
            <a:ext cx="36576" cy="7498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43032" y="461772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555555"/>
                </a:solidFill>
              </a:defRPr>
            </a:pPr>
            <a:r>
              <a:t>AI tools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43032" y="47823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830051"/>
                </a:solidFill>
              </a:defRPr>
            </a:pPr>
            <a:r>
              <a:t>GitHub Actions</a:t>
            </a:r>
            <a:br/>
            <a:r>
              <a:t>Datadog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43032" y="512064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555555"/>
                </a:solidFill>
              </a:defRPr>
            </a:pPr>
            <a:r>
              <a:t>Auto-deploy, auto-monitor.</a:t>
            </a:r>
            <a:br/>
            <a:r>
              <a:t>No manual runbooks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69880" y="5477256"/>
            <a:ext cx="150876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51592" y="5577840"/>
            <a:ext cx="36576" cy="749808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43032" y="5532120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555555"/>
                </a:solidFill>
              </a:defRPr>
            </a:pPr>
            <a:r>
              <a:t>AI 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43032" y="56967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830051"/>
                </a:solidFill>
              </a:defRPr>
            </a:pPr>
            <a:r>
              <a:t>Claude  |  Bedrock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43032" y="603504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555555"/>
                </a:solidFill>
              </a:defRPr>
            </a:pPr>
            <a:r>
              <a:t>Continuous AI-powered</a:t>
            </a:r>
            <a:br/>
            <a:r>
              <a:t>enhancements &amp;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